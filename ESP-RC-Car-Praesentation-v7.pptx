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274320"/>
            <a:ext cx="3749040" cy="4389120"/>
          </a:xfrm>
          <a:prstGeom prst="rect">
            <a:avLst/>
          </a:prstGeom>
          <a:solidFill>
            <a:srgbClr val="091625"/>
          </a:solidFill>
          <a:ln w="19050">
            <a:solidFill>
              <a:srgbClr val="00B4D8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5120640" y="274320"/>
            <a:ext cx="3749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248"/>
                </a:solidFill>
              </a:rPr>
              <a:t>[ FOTO DES AUTOS ]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75488" y="5029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</a:rPr>
              <a:t>ESP-RC-CAR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75488" y="1572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4D8"/>
                </a:solidFill>
              </a:rPr>
              <a:t>Schulprojekt · 4BHELS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75488" y="2084832"/>
            <a:ext cx="3474720" cy="3200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22677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18DA6"/>
                </a:solidFill>
              </a:rPr>
              <a:t>Selbst entwickeltes Drift-Car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25786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18DA6"/>
                </a:solidFill>
              </a:rPr>
              <a:t>gesteuert via Flutter-App über WiFi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31546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25"/>
                </a:solidFill>
              </a:rPr>
              <a:t>Teil 1 —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Hardware &amp; App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" y="357530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</a:rPr>
              <a:t>Teil 2 —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Firmware &amp; Mechanik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" y="41605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je ~7 Minuten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618DA6"/>
                </a:solidFill>
              </a:rPr>
              <a:t>TEIL 1 — ÜBERBLICK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Systemarchitektur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8DA6"/>
                </a:solidFill>
              </a:rPr>
              <a:t>Vier Schichten — von der App bis zum Motor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280160" y="1389888"/>
            <a:ext cx="6583680" cy="658368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80160" y="1389888"/>
            <a:ext cx="45720" cy="6583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89888" y="1444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Flutter App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89888" y="171907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Android · iOS · Windows · Web · Touch-Joystick · Gamepad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53712" y="2048256"/>
            <a:ext cx="36576" cy="310896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21214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4A225"/>
                </a:solidFill>
              </a:rPr>
              <a:t>WiFi · WebSocket ws://[IP]:80  ·  UDP Discovery :49352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53712" y="2350008"/>
            <a:ext cx="36576" cy="256032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80160" y="2606040"/>
            <a:ext cx="6583680" cy="749808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280160" y="2606040"/>
            <a:ext cx="45720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89888" y="26609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ESP32-S3  —  FreeRTOS / ESP-IDF 6.0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389888" y="2990088"/>
            <a:ext cx="1517904" cy="274320"/>
          </a:xfrm>
          <a:prstGeom prst="rect">
            <a:avLst/>
          </a:prstGeom>
          <a:solidFill>
            <a:srgbClr val="1A3248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89888" y="299008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motor_task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999232" y="2990088"/>
            <a:ext cx="1517904" cy="274320"/>
          </a:xfrm>
          <a:prstGeom prst="rect">
            <a:avLst/>
          </a:prstGeom>
          <a:solidFill>
            <a:srgbClr val="1A3248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99232" y="299008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comms_task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08576" y="2990088"/>
            <a:ext cx="1517904" cy="274320"/>
          </a:xfrm>
          <a:prstGeom prst="rect">
            <a:avLst/>
          </a:prstGeom>
          <a:solidFill>
            <a:srgbClr val="1A3248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08576" y="299008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system_task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17920" y="2990088"/>
            <a:ext cx="1517904" cy="274320"/>
          </a:xfrm>
          <a:prstGeom prst="rect">
            <a:avLst/>
          </a:prstGeom>
          <a:solidFill>
            <a:srgbClr val="1A3248"/>
          </a:solidFill>
          <a:ln w="12700">
            <a:solidFill>
              <a:srgbClr val="618D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99008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18D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bg_task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14600" y="3355848"/>
            <a:ext cx="36576" cy="274320"/>
          </a:xfrm>
          <a:prstGeom prst="rect">
            <a:avLst/>
          </a:prstGeom>
          <a:solidFill>
            <a:srgbClr val="618DA6"/>
          </a:solidFill>
          <a:ln w="12700">
            <a:solidFill>
              <a:srgbClr val="618D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0" y="33924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18DA6"/>
                </a:solidFill>
              </a:rPr>
              <a:t>PWM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629400" y="3355848"/>
            <a:ext cx="36576" cy="274320"/>
          </a:xfrm>
          <a:prstGeom prst="rect">
            <a:avLst/>
          </a:prstGeom>
          <a:solidFill>
            <a:srgbClr val="618DA6"/>
          </a:solidFill>
          <a:ln w="12700">
            <a:solidFill>
              <a:srgbClr val="618D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33924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18DA6"/>
                </a:solidFill>
              </a:rPr>
              <a:t>Servo-PWM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280160" y="3630168"/>
            <a:ext cx="2468880" cy="548640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80160" y="36301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DRV8323S  Gate Driver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3-Phasen Halbbrücke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496312" y="4178808"/>
            <a:ext cx="36576" cy="109728"/>
          </a:xfrm>
          <a:prstGeom prst="rect">
            <a:avLst/>
          </a:prstGeom>
          <a:solidFill>
            <a:srgbClr val="618DA6"/>
          </a:solidFill>
          <a:ln w="12700">
            <a:solidFill>
              <a:srgbClr val="618DA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80160" y="4288536"/>
            <a:ext cx="2468880" cy="365760"/>
          </a:xfrm>
          <a:prstGeom prst="rect">
            <a:avLst/>
          </a:prstGeom>
          <a:solidFill>
            <a:srgbClr val="0B1927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80160" y="42885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A225"/>
                </a:solidFill>
              </a:rPr>
              <a:t>Mini1410  BLDC Motor  2500 kV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394960" y="3630168"/>
            <a:ext cx="2468880" cy="548640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0" y="36301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96C7"/>
                </a:solidFill>
              </a:rPr>
              <a:t>S0009M  Lenkservo 9g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96C7"/>
                </a:solidFill>
              </a:rPr>
              <a:t>50 Hz · 1000–2000 µs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7472" y="4754880"/>
            <a:ext cx="8449056" cy="301752"/>
          </a:xfrm>
          <a:prstGeom prst="rect">
            <a:avLst/>
          </a:prstGeom>
          <a:solidFill>
            <a:srgbClr val="0B1927"/>
          </a:solidFill>
          <a:ln w="12700">
            <a:solidFill>
              <a:srgbClr val="1A3249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47472" y="4754880"/>
            <a:ext cx="45720" cy="301752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476402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18DA6"/>
                </a:solidFill>
              </a:rPr>
              <a:t>Energie:  USB-C PD 12V  →  Lade IC  →  2S LiPo  →  MUX  →  Buck  →  3.3V (ESP32)  ·  LiPo direkt  →  DRV8323 + FETs (Motorpfad)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F4A225"/>
                </a:solidFill>
              </a:rPr>
              <a:t>TEIL 1 — HARDWARE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PCB — Stromversorgung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8DA6"/>
                </a:solidFill>
              </a:rPr>
              <a:t>Altium Designer · Custom 2-Lagen 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7472" y="14081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A225"/>
                </a:solidFill>
              </a:rPr>
              <a:t>① Ladekreis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7472" y="1645920"/>
            <a:ext cx="1389888" cy="475488"/>
          </a:xfrm>
          <a:prstGeom prst="rect">
            <a:avLst/>
          </a:prstGeom>
          <a:solidFill>
            <a:srgbClr val="0B1927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45920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5DE5"/>
                </a:solidFill>
              </a:rPr>
              <a:t>USB-C PD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9B5DE5"/>
                </a:solidFill>
              </a:rPr>
              <a:t>12 V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737360" y="1865376"/>
            <a:ext cx="256032" cy="36576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56816" y="1792224"/>
            <a:ext cx="91440" cy="182880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29968" y="1645920"/>
            <a:ext cx="1389888" cy="475488"/>
          </a:xfrm>
          <a:prstGeom prst="rect">
            <a:avLst/>
          </a:prstGeom>
          <a:solidFill>
            <a:srgbClr val="0B1927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29968" y="1645920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A225"/>
                </a:solidFill>
              </a:rPr>
              <a:t>Lade IC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4A225"/>
                </a:solidFill>
              </a:rPr>
              <a:t>12V → CC/CV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19856" y="1847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18DA6"/>
                </a:solidFill>
              </a:rPr>
              <a:t>lädt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19856" y="1865376"/>
            <a:ext cx="256032" cy="36576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39312" y="1792224"/>
            <a:ext cx="91440" cy="182880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12464" y="1645920"/>
            <a:ext cx="1389888" cy="475488"/>
          </a:xfrm>
          <a:prstGeom prst="rect">
            <a:avLst/>
          </a:prstGeom>
          <a:solidFill>
            <a:srgbClr val="0B1927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12464" y="1645920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3946"/>
                </a:solidFill>
              </a:rPr>
              <a:t>2S LiPo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63946"/>
                </a:solidFill>
              </a:rPr>
              <a:t>7.4 V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102352" y="1865376"/>
            <a:ext cx="256032" cy="36576"/>
          </a:xfrm>
          <a:prstGeom prst="rect">
            <a:avLst/>
          </a:prstGeom>
          <a:solidFill>
            <a:srgbClr val="618DA6"/>
          </a:solidFill>
          <a:ln w="12700">
            <a:solidFill>
              <a:srgbClr val="618D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21808" y="1792224"/>
            <a:ext cx="91440" cy="182880"/>
          </a:xfrm>
          <a:prstGeom prst="rect">
            <a:avLst/>
          </a:prstGeom>
          <a:solidFill>
            <a:srgbClr val="618DA6"/>
          </a:solidFill>
          <a:ln w="12700">
            <a:solidFill>
              <a:srgbClr val="618D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94960" y="1645920"/>
            <a:ext cx="1389888" cy="475488"/>
          </a:xfrm>
          <a:prstGeom prst="rect">
            <a:avLst/>
          </a:prstGeom>
          <a:solidFill>
            <a:srgbClr val="0B1927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1645920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3946"/>
                </a:solidFill>
              </a:rPr>
              <a:t>BMS IC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63946"/>
                </a:solidFill>
              </a:rPr>
              <a:t>Balancing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7472" y="24505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C4B6"/>
                </a:solidFill>
              </a:rPr>
              <a:t>② 3.3V-Pfad  (Logik / ESP32)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7472" y="2688336"/>
            <a:ext cx="1389888" cy="475488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688336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96C7"/>
                </a:solidFill>
              </a:rPr>
              <a:t>USB-C PD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96C7"/>
                </a:solidFill>
              </a:rPr>
              <a:t>oder 2S LiPo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737360" y="2907792"/>
            <a:ext cx="256032" cy="36576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56816" y="2834640"/>
            <a:ext cx="91440" cy="1828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29968" y="2688336"/>
            <a:ext cx="1389888" cy="475488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29968" y="2688336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96C7"/>
                </a:solidFill>
              </a:rPr>
              <a:t>MUX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96C7"/>
                </a:solidFill>
              </a:rPr>
              <a:t>Quellenauswahl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19856" y="2907792"/>
            <a:ext cx="256032" cy="36576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39312" y="2834640"/>
            <a:ext cx="91440" cy="1828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12464" y="2688336"/>
            <a:ext cx="1389888" cy="475488"/>
          </a:xfrm>
          <a:prstGeom prst="rect">
            <a:avLst/>
          </a:prstGeom>
          <a:solidFill>
            <a:srgbClr val="0B1927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12464" y="2688336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C4B6"/>
                </a:solidFill>
              </a:rPr>
              <a:t>Buck Conv.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EC4B6"/>
                </a:solidFill>
              </a:rPr>
              <a:t>→ 3.3 V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102352" y="2907792"/>
            <a:ext cx="256032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21808" y="2834640"/>
            <a:ext cx="91440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94960" y="2688336"/>
            <a:ext cx="1389888" cy="475488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0" y="2688336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ESP32-S3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3.3 V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47472" y="34930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</a:rPr>
              <a:t>③ Motorpfad  (Leistung direkt)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47472" y="3730752"/>
            <a:ext cx="1389888" cy="475488"/>
          </a:xfrm>
          <a:prstGeom prst="rect">
            <a:avLst/>
          </a:prstGeom>
          <a:solidFill>
            <a:srgbClr val="0B1927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3730752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3946"/>
                </a:solidFill>
              </a:rPr>
              <a:t>2S LiPo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63946"/>
                </a:solidFill>
              </a:rPr>
              <a:t>7.4 V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764792" y="376732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18DA6"/>
                </a:solidFill>
              </a:rPr>
              <a:t>Batteriespannung direkt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618DA6"/>
                </a:solidFill>
              </a:rPr>
              <a:t>(keine Konvertierung)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584448" y="3950208"/>
            <a:ext cx="256032" cy="36576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03904" y="3877056"/>
            <a:ext cx="91440" cy="182880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77056" y="3730752"/>
            <a:ext cx="1389888" cy="475488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77056" y="3730752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DRV8323S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+ MOSFETs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266944" y="3950208"/>
            <a:ext cx="256032" cy="36576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0" y="3877056"/>
            <a:ext cx="91440" cy="182880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559552" y="3730752"/>
            <a:ext cx="1572768" cy="475488"/>
          </a:xfrm>
          <a:prstGeom prst="rect">
            <a:avLst/>
          </a:prstGeom>
          <a:solidFill>
            <a:srgbClr val="0B1927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59552" y="373075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A225"/>
                </a:solidFill>
              </a:rPr>
              <a:t>BLDC Motor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4A225"/>
                </a:solidFill>
              </a:rPr>
              <a:t>(direkt angesteuert)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223760" y="1408176"/>
            <a:ext cx="1572768" cy="2926080"/>
          </a:xfrm>
          <a:prstGeom prst="rect">
            <a:avLst/>
          </a:prstGeom>
          <a:solidFill>
            <a:srgbClr val="0B1927"/>
          </a:solidFill>
          <a:ln w="12700">
            <a:solidFill>
              <a:srgbClr val="1A3249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223760" y="1408176"/>
            <a:ext cx="45720" cy="2926080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15200" y="14813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ICs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315200" y="1828800"/>
            <a:ext cx="1371600" cy="347472"/>
          </a:xfrm>
          <a:prstGeom prst="rect">
            <a:avLst/>
          </a:prstGeom>
          <a:solidFill>
            <a:srgbClr val="1A3248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15200" y="18288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96C7"/>
                </a:solidFill>
              </a:rPr>
              <a:t>ESP32-S3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315200" y="2231136"/>
            <a:ext cx="1371600" cy="347472"/>
          </a:xfrm>
          <a:prstGeom prst="rect">
            <a:avLst/>
          </a:prstGeom>
          <a:solidFill>
            <a:srgbClr val="1A324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15200" y="223113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DRV8323S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315200" y="2633472"/>
            <a:ext cx="1371600" cy="347472"/>
          </a:xfrm>
          <a:prstGeom prst="rect">
            <a:avLst/>
          </a:prstGeom>
          <a:solidFill>
            <a:srgbClr val="1A3248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15200" y="26334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C4B6"/>
                </a:solidFill>
              </a:rPr>
              <a:t>Buck Conv.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315200" y="3035808"/>
            <a:ext cx="1371600" cy="347472"/>
          </a:xfrm>
          <a:prstGeom prst="rect">
            <a:avLst/>
          </a:prstGeom>
          <a:solidFill>
            <a:srgbClr val="1A3248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315200" y="30358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3946"/>
                </a:solidFill>
              </a:rPr>
              <a:t>BMS IC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315200" y="3438144"/>
            <a:ext cx="1371600" cy="347472"/>
          </a:xfrm>
          <a:prstGeom prst="rect">
            <a:avLst/>
          </a:prstGeom>
          <a:solidFill>
            <a:srgbClr val="1A3248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15200" y="343814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A225"/>
                </a:solidFill>
              </a:rPr>
              <a:t>Lade IC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315200" y="3840480"/>
            <a:ext cx="1371600" cy="347472"/>
          </a:xfrm>
          <a:prstGeom prst="rect">
            <a:avLst/>
          </a:prstGeom>
          <a:solidFill>
            <a:srgbClr val="1A3248"/>
          </a:solidFill>
          <a:ln w="12700">
            <a:solidFill>
              <a:srgbClr val="618DA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315200" y="38404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18DA6"/>
                </a:solidFill>
              </a:rPr>
              <a:t>N-FETs ×6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F4A225"/>
                </a:solidFill>
              </a:rPr>
              <a:t>TEIL 1 — APP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Flutter App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8DA6"/>
                </a:solidFill>
              </a:rPr>
              <a:t>Cross-Platform Controller — Android · iOS · Windows · Web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426464"/>
            <a:ext cx="1417320" cy="265176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426464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Android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83664" y="1426464"/>
            <a:ext cx="1417320" cy="265176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83664" y="1426464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iOS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19856" y="1426464"/>
            <a:ext cx="1417320" cy="265176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9856" y="1426464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Windows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956048" y="1426464"/>
            <a:ext cx="1417320" cy="265176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1426464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Web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" y="1828800"/>
            <a:ext cx="3840480" cy="3063240"/>
          </a:xfrm>
          <a:prstGeom prst="rect">
            <a:avLst/>
          </a:prstGeom>
          <a:solidFill>
            <a:srgbClr val="091625"/>
          </a:solidFill>
          <a:ln w="19050">
            <a:solidFill>
              <a:srgbClr val="0096C7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347472" y="1828800"/>
            <a:ext cx="38404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248"/>
                </a:solidFill>
              </a:rPr>
              <a:t>[ APP SCREENSHOT ]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43400" y="1828800"/>
            <a:ext cx="4453128" cy="1389888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43400" y="1828800"/>
            <a:ext cx="45720" cy="13898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07992" y="19019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Steuerung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07992" y="22585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</a:rPr>
              <a:t>Linker Joystick  →  Gas / Bremse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07992" y="25877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</a:rPr>
              <a:t>Rechter Joystick →  Lenkung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07992" y="291693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</a:rPr>
              <a:t>Gamepad R2/RT = Gas · L2/LT = Rückwärts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43400" y="3355848"/>
            <a:ext cx="4453128" cy="1536192"/>
          </a:xfrm>
          <a:prstGeom prst="rect">
            <a:avLst/>
          </a:prstGeom>
          <a:solidFill>
            <a:srgbClr val="0B1927"/>
          </a:solidFill>
          <a:ln w="12700">
            <a:solidFill>
              <a:srgbClr val="9B5DE5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43400" y="3355848"/>
            <a:ext cx="45720" cy="153619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07992" y="342900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DE5"/>
                </a:solidFill>
              </a:rPr>
              <a:t>Features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07992" y="378561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5DE5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Auto-Discovery  (UDP · TCP-Scan · AP-Fallback)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07992" y="407822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5DE5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Automatischer Reconnect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07992" y="43708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5DE5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GitHub Self-Update  (Android In-App)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07992" y="46634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5DE5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Dark Theme · Developer Panel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F4A225"/>
                </a:solidFill>
              </a:rPr>
              <a:t>TEIL 1 — APP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Kommunikation: App ↔ ESP32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8DA6"/>
                </a:solidFill>
              </a:rPr>
              <a:t>Verbindungsaufbau · Protokoll · Failsafe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389888"/>
            <a:ext cx="8449056" cy="1280160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389888"/>
            <a:ext cx="45720" cy="128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721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Schritt 1 — Auto-Discovery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85623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</a:rPr>
              <a:t>UDP Broadcast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1214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8DA6"/>
                </a:solidFill>
              </a:rPr>
              <a:t>App sendet → ESP32 antwortet mit IP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37560" y="185623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6C7"/>
                </a:solidFill>
              </a:rPr>
              <a:t>TCP Subnet-Scan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37560" y="21214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8DA6"/>
                </a:solidFill>
              </a:rPr>
              <a:t>Fallback: scannt Subnetz auf WS-Port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72200" y="185623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18DA6"/>
                </a:solidFill>
              </a:rPr>
              <a:t>AP-Mode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172200" y="21214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8DA6"/>
                </a:solidFill>
              </a:rPr>
              <a:t>192.168.4.1  (ESP32 als Access Point)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2816352"/>
            <a:ext cx="8449056" cy="2029968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" y="2816352"/>
            <a:ext cx="45720" cy="20299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986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6C7"/>
                </a:solidFill>
              </a:rPr>
              <a:t>Schritt 2 — WebSocket  ws://[IP]:80/ws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3657600" cy="1353312"/>
          </a:xfrm>
          <a:prstGeom prst="rect">
            <a:avLst/>
          </a:prstGeom>
          <a:solidFill>
            <a:srgbClr val="0A1B2E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4015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25"/>
                </a:solidFill>
              </a:rPr>
              <a:t>App → ESP32  (50 Hz Steuerbefehl)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694176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"throttle": -1000 … +1000,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"steer":    -1000 … +1000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3337560"/>
            <a:ext cx="3657600" cy="1353312"/>
          </a:xfrm>
          <a:prstGeom prst="rect">
            <a:avLst/>
          </a:prstGeom>
          <a:solidFill>
            <a:srgbClr val="0A1B2E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4015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ESP32 → App  (1 × pro Sekunde)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369417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"batt": 0 … 100 }  // Batterie 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411480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</a:rPr>
              <a:t>Failsafe: 500 ms kein Paket → Nullbefehl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0" cy="5143500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96C7">
              <a:alpha val="30000"/>
            </a:srgbClr>
          </a:solidFill>
          <a:ln w="12700">
            <a:solidFill>
              <a:srgbClr val="0096C7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0" y="777240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0" kern="0" dirty="0">
                <a:solidFill>
                  <a:srgbClr val="00B4D8"/>
                </a:solidFill>
              </a:rPr>
              <a:t>TEIL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011680" y="1261872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ESP Firmware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&amp; Mechanik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2011680" y="30906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18DA6"/>
                </a:solidFill>
              </a:rPr>
              <a:t>FreeRTOS · 6-Step BLDC · WiFi · 3D-Druck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11680" y="3493008"/>
            <a:ext cx="3200400" cy="320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36758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96C7"/>
                </a:solidFill>
              </a:rPr>
              <a:t>ESP-IDF 6.0 · PlatformIO · FreeRTOS 1000 Hz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0B4D8"/>
                </a:solidFill>
              </a:rPr>
              <a:t>TEIL 2 — FIRMWARE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FreeRTOS — 4 Tasks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8DA6"/>
                </a:solidFill>
              </a:rPr>
              <a:t>Jeder Task hat eine klare Verantwortung · ESP-IDF 6.0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92608" y="1408176"/>
            <a:ext cx="2057400" cy="3401568"/>
          </a:xfrm>
          <a:prstGeom prst="rect">
            <a:avLst/>
          </a:prstGeom>
          <a:solidFill>
            <a:srgbClr val="0B1927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408176"/>
            <a:ext cx="45720" cy="34015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490472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motor_task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865376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8DA6"/>
                </a:solidFill>
              </a:rPr>
              <a:t>Prio 10  ·  4 KB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" y="2130552"/>
            <a:ext cx="1719072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23113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6-Step BLDC Kommutierung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" y="276148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DRV8323S SPI + Fault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8912" y="329184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Safe-Mode → Suspend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68880" y="1408176"/>
            <a:ext cx="2057400" cy="3401568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68880" y="1408176"/>
            <a:ext cx="45720" cy="34015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15184" y="1490472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comms_task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15184" y="1865376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8DA6"/>
                </a:solidFill>
              </a:rPr>
              <a:t>Prio 7  ·  8 KB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15184" y="2130552"/>
            <a:ext cx="1719072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15184" y="223113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WiFi esp_wifi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15184" y="276148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WebSocket Port 80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15184" y="329184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UDP Discovery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45152" y="1408176"/>
            <a:ext cx="2057400" cy="3401568"/>
          </a:xfrm>
          <a:prstGeom prst="rect">
            <a:avLst/>
          </a:prstGeom>
          <a:solidFill>
            <a:srgbClr val="0B1927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45152" y="1408176"/>
            <a:ext cx="45720" cy="34015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91456" y="1490472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system_task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91456" y="1865376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8DA6"/>
                </a:solidFill>
              </a:rPr>
              <a:t>Prio 5  ·  6 KB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91456" y="2130552"/>
            <a:ext cx="1719072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223113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ADC Batterie-Monitor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91456" y="276148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NVS Einstellungen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91456" y="329184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Crash-Recovery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21424" y="1408176"/>
            <a:ext cx="2057400" cy="3401568"/>
          </a:xfrm>
          <a:prstGeom prst="rect">
            <a:avLst/>
          </a:prstGeom>
          <a:solidFill>
            <a:srgbClr val="0B1927"/>
          </a:solidFill>
          <a:ln w="12700">
            <a:solidFill>
              <a:srgbClr val="618DA6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21424" y="1408176"/>
            <a:ext cx="45720" cy="3401568"/>
          </a:xfrm>
          <a:prstGeom prst="rect">
            <a:avLst/>
          </a:prstGeom>
          <a:solidFill>
            <a:srgbClr val="618DA6"/>
          </a:solidFill>
          <a:ln w="12700">
            <a:solidFill>
              <a:srgbClr val="618D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67728" y="1490472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18D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bg_task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67728" y="1865376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8DA6"/>
                </a:solidFill>
              </a:rPr>
              <a:t>Prio 2  ·  6 KB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967728" y="2130552"/>
            <a:ext cx="1719072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67728" y="223113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8DA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GitHub FOTA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967728" y="276148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8DA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Serial Console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967728" y="329184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8DA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OTA Rollback Guard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92608" y="4663440"/>
            <a:ext cx="8558784" cy="347472"/>
          </a:xfrm>
          <a:prstGeom prst="rect">
            <a:avLst/>
          </a:prstGeom>
          <a:solidFill>
            <a:srgbClr val="0B1927"/>
          </a:solidFill>
          <a:ln w="12700">
            <a:solidFill>
              <a:srgbClr val="1A3249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92608" y="4663440"/>
            <a:ext cx="45720" cy="347472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700016"/>
            <a:ext cx="8229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18D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comms_task  →  cmd_queue  →  motor_task          system_task  →  batt_queue  →  comms_task  →  WebSocket broadcast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0B4D8"/>
                </a:solidFill>
              </a:rPr>
              <a:t>TEIL 2 — MOTOR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Motor &amp; Gate Driver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8DA6"/>
                </a:solidFill>
              </a:rPr>
              <a:t>DRV8323SRTAR · 6-Step Trapez · 20 kHz PWM · Soft-Start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408176"/>
            <a:ext cx="2743200" cy="3474720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408176"/>
            <a:ext cx="45720" cy="3474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9047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DRV8323SRTAR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233172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7510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Gehäuse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197510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VQFN-40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Spannung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91640" y="23774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 – 60 V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7797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Interface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277977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SPI · 5 Register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18211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Schutz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91640" y="318211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OCP · VDS · Temp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5844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CSA Gain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91640" y="358444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10× · LS-Shunt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98678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nFAULT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398678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aktiv LOW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1408176"/>
            <a:ext cx="3520440" cy="2194560"/>
          </a:xfrm>
          <a:prstGeom prst="rect">
            <a:avLst/>
          </a:prstGeom>
          <a:solidFill>
            <a:srgbClr val="0B1927"/>
          </a:solidFill>
          <a:ln w="12700">
            <a:solidFill>
              <a:srgbClr val="F4A225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1408176"/>
            <a:ext cx="45720" cy="2194560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01568" y="149047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25"/>
                </a:solidFill>
              </a:rPr>
              <a:t>6-Step Kommutierung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28416" y="190195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803904" y="19019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18DA6"/>
                </a:solidFill>
              </a:rPr>
              <a:t>INH_A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224528" y="19019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18DA6"/>
                </a:solidFill>
              </a:rPr>
              <a:t>INL_A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45152" y="19019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18DA6"/>
                </a:solidFill>
              </a:rPr>
              <a:t>INH_B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65776" y="19019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18DA6"/>
                </a:solidFill>
              </a:rPr>
              <a:t>INL_B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86400" y="19019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18DA6"/>
                </a:solidFill>
              </a:rPr>
              <a:t>INH_C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907024" y="19019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18DA6"/>
                </a:solidFill>
              </a:rPr>
              <a:t>INL_C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327648" y="190195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18DA6"/>
                </a:solidFill>
              </a:rPr>
              <a:t>Ø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28416" y="2148840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8DA6"/>
                </a:solidFill>
              </a:rPr>
              <a:t>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03904" y="214884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224528" y="214884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45152" y="214884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65776" y="214884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486400" y="214884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907024" y="214884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327648" y="2148840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A+B−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328416" y="2382012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8DA6"/>
                </a:solidFill>
              </a:rPr>
              <a:t>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803904" y="238201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224528" y="238201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645152" y="238201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65776" y="238201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486400" y="238201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907024" y="238201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327648" y="2382012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A+C−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328416" y="2615184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8DA6"/>
                </a:solidFill>
              </a:rPr>
              <a:t>2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803904" y="2615184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224528" y="2615184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645152" y="2615184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065776" y="2615184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486400" y="2615184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907024" y="2615184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327648" y="261518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B+C−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328416" y="2848356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8DA6"/>
                </a:solidFill>
              </a:rPr>
              <a:t>3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803904" y="284835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224528" y="284835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645152" y="284835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065776" y="284835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486400" y="284835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907024" y="284835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327648" y="2848356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B+A−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3328416" y="3081528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8DA6"/>
                </a:solidFill>
              </a:rPr>
              <a:t>4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3803904" y="3081528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224528" y="3081528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645152" y="3081528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065776" y="3081528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486400" y="3081528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907024" y="3081528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327648" y="308152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C+A−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3328416" y="3314700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8DA6"/>
                </a:solidFill>
              </a:rPr>
              <a:t>5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3803904" y="331470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224528" y="331470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4645152" y="331470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065776" y="331470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486400" y="331470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907024" y="331470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6327648" y="3314700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C+B−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6912864" y="1408176"/>
            <a:ext cx="1883664" cy="1591056"/>
          </a:xfrm>
          <a:prstGeom prst="rect">
            <a:avLst/>
          </a:prstGeom>
          <a:solidFill>
            <a:srgbClr val="0B1927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6912864" y="1408176"/>
            <a:ext cx="45720" cy="1591056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059168" y="1490472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</a:rPr>
              <a:t>Soft-Start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7059168" y="182880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C4E2F0"/>
                </a:solidFill>
              </a:rPr>
              <a:t>Duty-Rampe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7059168" y="217627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C4E2F0"/>
                </a:solidFill>
              </a:rPr>
              <a:t>50 ms → 5 ms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7059168" y="2523744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C4E2F0"/>
                </a:solidFill>
              </a:rPr>
              <a:t>Reset bei Richtung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6912864" y="3127248"/>
            <a:ext cx="1883664" cy="1755648"/>
          </a:xfrm>
          <a:prstGeom prst="rect">
            <a:avLst/>
          </a:prstGeom>
          <a:solidFill>
            <a:srgbClr val="0B1927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6912864" y="3127248"/>
            <a:ext cx="45720" cy="175564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059168" y="3209544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</a:rPr>
              <a:t>Fault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7059168" y="354787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C4E2F0"/>
                </a:solidFill>
              </a:rPr>
              <a:t>nFAULT → off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7059168" y="386791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C4E2F0"/>
                </a:solidFill>
              </a:rPr>
              <a:t>500 ms Pause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7059168" y="418795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C4E2F0"/>
                </a:solidFill>
              </a:rPr>
              <a:t>Register reset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7059168" y="450799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C4E2F0"/>
                </a:solidFill>
              </a:rPr>
              <a:t>SAFE_MODE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3246120" y="3621024"/>
            <a:ext cx="3520440" cy="1261872"/>
          </a:xfrm>
          <a:prstGeom prst="rect">
            <a:avLst/>
          </a:prstGeom>
          <a:solidFill>
            <a:srgbClr val="0B1927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383280" y="36941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E2F0"/>
                </a:solidFill>
              </a:rPr>
              <a:t>Motorphasen-Zustände: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3383280" y="3995928"/>
            <a:ext cx="384048" cy="219456"/>
          </a:xfrm>
          <a:prstGeom prst="rect">
            <a:avLst/>
          </a:prstGeom>
          <a:solidFill>
            <a:srgbClr val="1A3248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383280" y="399592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3822192" y="40050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8DA6"/>
                </a:solidFill>
              </a:rPr>
              <a:t>High-Side aktiv  (moduliert)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3383280" y="4261104"/>
            <a:ext cx="384048" cy="219456"/>
          </a:xfrm>
          <a:prstGeom prst="rect">
            <a:avLst/>
          </a:prstGeom>
          <a:solidFill>
            <a:srgbClr val="1A3248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383280" y="42611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3822192" y="42702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8DA6"/>
                </a:solidFill>
              </a:rPr>
              <a:t>Low-Side aktiv  (LOW)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3383280" y="4526280"/>
            <a:ext cx="384048" cy="219456"/>
          </a:xfrm>
          <a:prstGeom prst="rect">
            <a:avLst/>
          </a:prstGeom>
          <a:solidFill>
            <a:srgbClr val="1A3248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383280" y="452628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3822192" y="453542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8DA6"/>
                </a:solidFill>
              </a:rPr>
              <a:t>Float  (keine Ansteuerung)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0B4D8"/>
                </a:solidFill>
              </a:rPr>
              <a:t>TEIL 2 — FIRMWARE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Netzwerk &amp; OTA-Updates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8DA6"/>
                </a:solidFill>
              </a:rPr>
              <a:t>WiFi · WebSocket · GitHub FOTA · PlatformIO OTA Upload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408176"/>
            <a:ext cx="3977640" cy="3474720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408176"/>
            <a:ext cx="45720" cy="34747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904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6C7"/>
                </a:solidFill>
              </a:rPr>
              <a:t>Netzwerk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347472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933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96C7"/>
                </a:solidFill>
              </a:rPr>
              <a:t>WiFi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249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8DA6"/>
                </a:solidFill>
              </a:rPr>
              <a:t>SSID/Passwort in NVS · Auto-Reconnect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60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</a:rPr>
              <a:t>WebSocket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28163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8DA6"/>
                </a:solidFill>
              </a:rPr>
              <a:t>esp_http_server Port 80 · Route /ws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127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A225"/>
                </a:solidFill>
              </a:rPr>
              <a:t>UDP Discovery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33832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8DA6"/>
                </a:solidFill>
              </a:rPr>
              <a:t>Port 49352 · eigener Sub-Task Prio 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6941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18DA6"/>
                </a:solidFill>
              </a:rPr>
              <a:t>AP-Mode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39502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8DA6"/>
                </a:solidFill>
              </a:rPr>
              <a:t>Fallback wenn kein Netzwerk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261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3946"/>
                </a:solidFill>
              </a:rPr>
              <a:t>Failsafe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45171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8DA6"/>
                </a:solidFill>
              </a:rPr>
              <a:t>500 ms kein Paket → Motor-Stopp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80560" y="1408176"/>
            <a:ext cx="4315968" cy="1645920"/>
          </a:xfrm>
          <a:prstGeom prst="rect">
            <a:avLst/>
          </a:prstGeom>
          <a:solidFill>
            <a:srgbClr val="0B1927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80560" y="1408176"/>
            <a:ext cx="45720" cy="16459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45152" y="149047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</a:rPr>
              <a:t>GitHub FOTA  — automatisch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45152" y="186537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bg_task prüft GitHub Releases (alle 5 min)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45152" y="222199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esp_https_ota → neuen Partition-Slot flashen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45152" y="257860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Neustart · Auto-Rollback bei Fehler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80560" y="3182112"/>
            <a:ext cx="4315968" cy="1700784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80560" y="3182112"/>
            <a:ext cx="45720" cy="170078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5152" y="326440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</a:rPr>
              <a:t>OTA Upload  — manuell (PlatformIO)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45152" y="363931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Upload-Ziel: esp-rc-car.local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45152" y="3995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Passwort-gesichert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645152" y="435254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Umgebung: espidf_ota (platformio.ini)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47472" y="4700016"/>
            <a:ext cx="8449056" cy="347472"/>
          </a:xfrm>
          <a:prstGeom prst="rect">
            <a:avLst/>
          </a:prstGeom>
          <a:solidFill>
            <a:srgbClr val="0B1927"/>
          </a:solidFill>
          <a:ln w="12700">
            <a:solidFill>
              <a:srgbClr val="1A3249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47472" y="4700016"/>
            <a:ext cx="45720" cy="347472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736592"/>
            <a:ext cx="8138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18DA6"/>
                </a:solidFill>
              </a:rPr>
              <a:t>NVS: SSID/Passwort · OTA-Intervall · Batterie-Schwellen · Servo-Gain · Failsafe-Zeit · max_throttle_pct …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0B4D8"/>
                </a:solidFill>
              </a:rPr>
              <a:t>TEIL 2 — MECHANIK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Chassis &amp; Mechanik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8DA6"/>
                </a:solidFill>
              </a:rPr>
              <a:t>3D-Druck · Blender · PLA · S0009M Lenkservo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408176"/>
            <a:ext cx="3291840" cy="2011680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408176"/>
            <a:ext cx="45720" cy="20116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9047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6C7"/>
                </a:solidFill>
              </a:rPr>
              <a:t>3D-Druck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856232"/>
            <a:ext cx="283464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568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Hauptkörper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74520" y="195681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Chassi V8.stl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2219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Verbinder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74520" y="222199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verbindung v1.stl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4871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Software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74520" y="248716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Blender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7523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Material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74520" y="275234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0175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Iterationen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74520" y="301752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V1 → V8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" y="3547872"/>
            <a:ext cx="3291840" cy="1335024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" y="3547872"/>
            <a:ext cx="45720" cy="13350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3016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Lenkservo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3995928"/>
            <a:ext cx="283464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0965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Modell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74520" y="409651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S0009M  9g Micro Servo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3525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Signal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874520" y="435254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50 Hz · 1000–2000 µs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6085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Filter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874520" y="460857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IIR · Gain einstellbar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94760" y="1408176"/>
            <a:ext cx="5001768" cy="2286000"/>
          </a:xfrm>
          <a:prstGeom prst="rect">
            <a:avLst/>
          </a:prstGeom>
          <a:solidFill>
            <a:srgbClr val="091625"/>
          </a:solidFill>
          <a:ln w="19050">
            <a:solidFill>
              <a:srgbClr val="0096C7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3794760" y="1408176"/>
            <a:ext cx="500176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3248"/>
                </a:solidFill>
              </a:rPr>
              <a:t>[ FOTO / RENDER ]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A3248"/>
                </a:solidFill>
              </a:rPr>
              <a:t>Chassi V8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3794760" y="3822192"/>
            <a:ext cx="5001768" cy="1060704"/>
          </a:xfrm>
          <a:prstGeom prst="rect">
            <a:avLst/>
          </a:prstGeom>
          <a:solidFill>
            <a:srgbClr val="091625"/>
          </a:solidFill>
          <a:ln w="19050">
            <a:solidFill>
              <a:srgbClr val="00B4D8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3794760" y="3822192"/>
            <a:ext cx="500176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248"/>
                </a:solidFill>
              </a:rPr>
              <a:t>[ FOTO / RENDER ]  verbindung v1.stl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05072"/>
            <a:ext cx="9144000" cy="1138428"/>
          </a:xfrm>
          <a:prstGeom prst="rect">
            <a:avLst/>
          </a:prstGeom>
          <a:solidFill>
            <a:srgbClr val="00B4D8">
              <a:alpha val="8000"/>
            </a:srgbClr>
          </a:solidFill>
          <a:ln w="12700">
            <a:solidFill>
              <a:srgbClr val="00B4D8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320040"/>
            <a:ext cx="8193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ESP-RC-Car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75488" y="1261872"/>
            <a:ext cx="8193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18DA6"/>
                </a:solidFill>
              </a:rPr>
              <a:t>Schulprojekt 4BHELS  —  Zusammenfassung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0" y="1664208"/>
            <a:ext cx="5120640" cy="3200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901952"/>
            <a:ext cx="1920240" cy="1874520"/>
          </a:xfrm>
          <a:prstGeom prst="rect">
            <a:avLst/>
          </a:prstGeom>
          <a:solidFill>
            <a:srgbClr val="0B1927"/>
          </a:solidFill>
          <a:ln w="12700">
            <a:solidFill>
              <a:srgbClr val="F4A225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901952"/>
            <a:ext cx="45720" cy="1874520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9842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25"/>
                </a:solidFill>
              </a:rPr>
              <a:t>Hardware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" y="2368296"/>
            <a:ext cx="155448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2450592"/>
            <a:ext cx="1645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</a:rPr>
              <a:t>ESP32-S3 · DRV8323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</a:rPr>
              <a:t>2S LiPo · PCB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51176" y="1901952"/>
            <a:ext cx="1920240" cy="1874520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51176" y="1901952"/>
            <a:ext cx="45720" cy="18745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88336" y="19842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6C7"/>
                </a:solidFill>
              </a:rPr>
              <a:t>App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688336" y="2368296"/>
            <a:ext cx="155448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88336" y="2450592"/>
            <a:ext cx="1645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</a:rPr>
              <a:t>Flutter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</a:rPr>
              <a:t>Android/iOS/Win/Web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26864" y="1901952"/>
            <a:ext cx="1920240" cy="1874520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1901952"/>
            <a:ext cx="45720" cy="1874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64024" y="19842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Firmware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764024" y="2368296"/>
            <a:ext cx="155448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64024" y="2450592"/>
            <a:ext cx="1645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</a:rPr>
              <a:t>FreeRTOS · ESP-IDF 6.0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</a:rPr>
              <a:t>6-Step BLDC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02552" y="1901952"/>
            <a:ext cx="1920240" cy="1874520"/>
          </a:xfrm>
          <a:prstGeom prst="rect">
            <a:avLst/>
          </a:prstGeom>
          <a:solidFill>
            <a:srgbClr val="0B1927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02552" y="1901952"/>
            <a:ext cx="45720" cy="18745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39712" y="19842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</a:rPr>
              <a:t>Mechanik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839712" y="2368296"/>
            <a:ext cx="155448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39712" y="2450592"/>
            <a:ext cx="1645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</a:rPr>
              <a:t>Chassi V8 · Blender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</a:rPr>
              <a:t>Servo S0009M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" y="4059936"/>
            <a:ext cx="8193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Demo — Live Vorführung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75488" y="4553712"/>
            <a:ext cx="8193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github.com/marioisnotavailable/ESP-RC-Car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ESP-RC-Car</dc:title>
  <dc:subject>PptxGenJS Presentation</dc:subject>
  <dc:creator>PptxGenJS</dc:creator>
  <cp:lastModifiedBy>PptxGenJS</cp:lastModifiedBy>
  <cp:revision>1</cp:revision>
  <dcterms:created xsi:type="dcterms:W3CDTF">2026-06-04T18:16:28Z</dcterms:created>
  <dcterms:modified xsi:type="dcterms:W3CDTF">2026-06-04T18:16:28Z</dcterms:modified>
</cp:coreProperties>
</file>