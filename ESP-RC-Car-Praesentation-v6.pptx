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50D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20640" y="274320"/>
            <a:ext cx="3749040" cy="4389120"/>
          </a:xfrm>
          <a:prstGeom prst="rect">
            <a:avLst/>
          </a:prstGeom>
          <a:solidFill>
            <a:srgbClr val="091625"/>
          </a:solidFill>
          <a:ln w="19050">
            <a:solidFill>
              <a:srgbClr val="00B4D8"/>
            </a:solidFill>
            <a:prstDash val="dash"/>
          </a:ln>
        </p:spPr>
      </p:sp>
      <p:sp>
        <p:nvSpPr>
          <p:cNvPr id="3" name="Text 1"/>
          <p:cNvSpPr/>
          <p:nvPr/>
        </p:nvSpPr>
        <p:spPr>
          <a:xfrm>
            <a:off x="5120640" y="274320"/>
            <a:ext cx="374904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3248"/>
                </a:solidFill>
              </a:rPr>
              <a:t>[ FOTO DES AUTOS ]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75488" y="502920"/>
            <a:ext cx="4572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spc="100" kern="0" dirty="0">
                <a:solidFill>
                  <a:srgbClr val="FFFFFF"/>
                </a:solidFill>
              </a:rPr>
              <a:t>ESP-RC-CAR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475488" y="1572768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B4D8"/>
                </a:solidFill>
              </a:rPr>
              <a:t>Schulprojekt · 4BHELS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475488" y="2084832"/>
            <a:ext cx="3474720" cy="32004"/>
          </a:xfrm>
          <a:prstGeom prst="rect">
            <a:avLst/>
          </a:prstGeom>
          <a:solidFill>
            <a:srgbClr val="0096C7"/>
          </a:solidFill>
          <a:ln w="12700">
            <a:solidFill>
              <a:srgbClr val="0096C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75488" y="2267712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18DA6"/>
                </a:solidFill>
              </a:rPr>
              <a:t>Selbst entwickeltes Drift-Car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75488" y="2578608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18DA6"/>
                </a:solidFill>
              </a:rPr>
              <a:t>gesteuert via Flutter-App über WiFi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75488" y="3154680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A225"/>
                </a:solidFill>
              </a:rPr>
              <a:t>Teil 1 —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Hardware &amp; App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75488" y="3575304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C4B6"/>
                </a:solidFill>
              </a:rPr>
              <a:t>Teil 2 —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Firmware &amp; Mechanik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75488" y="4160520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18DA6"/>
                </a:solidFill>
              </a:rPr>
              <a:t>je ~7 Minuten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710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5488" y="11887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500" kern="0" dirty="0">
                <a:solidFill>
                  <a:srgbClr val="618DA6"/>
                </a:solidFill>
              </a:rPr>
              <a:t>TEIL 1 — ÜBERBLICK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75488" y="384048"/>
            <a:ext cx="8229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</a:rPr>
              <a:t>Systemarchitektur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475488" y="1042416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18DA6"/>
                </a:solidFill>
              </a:rPr>
              <a:t>Vier Schichten — von der App bis zum Motor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1280160" y="1389888"/>
            <a:ext cx="6583680" cy="658368"/>
          </a:xfrm>
          <a:prstGeom prst="rect">
            <a:avLst/>
          </a:prstGeom>
          <a:solidFill>
            <a:srgbClr val="0B1927"/>
          </a:solidFill>
          <a:ln w="12700">
            <a:solidFill>
              <a:srgbClr val="0096C7"/>
            </a:solidFill>
            <a:prstDash val="solid"/>
          </a:ln>
          <a:effectLst>
            <a:outerShdw sx="100000" sy="100000" kx="0" ky="0" algn="bl" rotWithShape="0" blurRad="114300" dist="25400" dir="8100000">
              <a:srgbClr val="000000">
                <a:alpha val="2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280160" y="1389888"/>
            <a:ext cx="45720" cy="658368"/>
          </a:xfrm>
          <a:prstGeom prst="rect">
            <a:avLst/>
          </a:prstGeom>
          <a:solidFill>
            <a:srgbClr val="0096C7"/>
          </a:solidFill>
          <a:ln w="12700">
            <a:solidFill>
              <a:srgbClr val="0096C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389888" y="1444752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B4D8"/>
                </a:solidFill>
              </a:rPr>
              <a:t>Flutter App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389888" y="1719072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18DA6"/>
                </a:solidFill>
              </a:rPr>
              <a:t>Android · iOS · Windows · Web · Touch-Joystick · Gamepad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53712" y="2048256"/>
            <a:ext cx="36576" cy="310896"/>
          </a:xfrm>
          <a:prstGeom prst="rect">
            <a:avLst/>
          </a:prstGeom>
          <a:solidFill>
            <a:srgbClr val="F4A225"/>
          </a:solidFill>
          <a:ln w="12700">
            <a:solidFill>
              <a:srgbClr val="F4A22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645920" y="2121408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F4A225"/>
                </a:solidFill>
              </a:rPr>
              <a:t>WiFi · WebSocket ws://[IP]:80  ·  UDP Discovery :49352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53712" y="2350008"/>
            <a:ext cx="36576" cy="256032"/>
          </a:xfrm>
          <a:prstGeom prst="rect">
            <a:avLst/>
          </a:prstGeom>
          <a:solidFill>
            <a:srgbClr val="F4A225"/>
          </a:solidFill>
          <a:ln w="12700">
            <a:solidFill>
              <a:srgbClr val="F4A22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280160" y="2606040"/>
            <a:ext cx="6583680" cy="749808"/>
          </a:xfrm>
          <a:prstGeom prst="rect">
            <a:avLst/>
          </a:prstGeom>
          <a:solidFill>
            <a:srgbClr val="0B1927"/>
          </a:solidFill>
          <a:ln w="12700">
            <a:solidFill>
              <a:srgbClr val="00B4D8"/>
            </a:solidFill>
            <a:prstDash val="solid"/>
          </a:ln>
          <a:effectLst>
            <a:outerShdw sx="100000" sy="100000" kx="0" ky="0" algn="bl" rotWithShape="0" blurRad="114300" dist="25400" dir="8100000">
              <a:srgbClr val="000000">
                <a:alpha val="2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1280160" y="2606040"/>
            <a:ext cx="45720" cy="7498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389888" y="2660904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B4D8"/>
                </a:solidFill>
              </a:rPr>
              <a:t>ESP32-S3  —  FreeRTOS / ESP-IDF 6.0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1389888" y="2990088"/>
            <a:ext cx="1517904" cy="274320"/>
          </a:xfrm>
          <a:prstGeom prst="rect">
            <a:avLst/>
          </a:prstGeom>
          <a:solidFill>
            <a:srgbClr val="1A3248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389888" y="2990088"/>
            <a:ext cx="15179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E6394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motor_task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2999232" y="2990088"/>
            <a:ext cx="1517904" cy="274320"/>
          </a:xfrm>
          <a:prstGeom prst="rect">
            <a:avLst/>
          </a:prstGeom>
          <a:solidFill>
            <a:srgbClr val="1A3248"/>
          </a:solidFill>
          <a:ln w="12700">
            <a:solidFill>
              <a:srgbClr val="0096C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999232" y="2990088"/>
            <a:ext cx="15179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096C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comms_task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608576" y="2990088"/>
            <a:ext cx="1517904" cy="274320"/>
          </a:xfrm>
          <a:prstGeom prst="rect">
            <a:avLst/>
          </a:prstGeom>
          <a:solidFill>
            <a:srgbClr val="1A3248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608576" y="2990088"/>
            <a:ext cx="15179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EC4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system_task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6217920" y="2990088"/>
            <a:ext cx="1517904" cy="274320"/>
          </a:xfrm>
          <a:prstGeom prst="rect">
            <a:avLst/>
          </a:prstGeom>
          <a:solidFill>
            <a:srgbClr val="1A3248"/>
          </a:solidFill>
          <a:ln w="12700">
            <a:solidFill>
              <a:srgbClr val="618DA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217920" y="2990088"/>
            <a:ext cx="15179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18D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bg_task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2514600" y="3355848"/>
            <a:ext cx="36576" cy="274320"/>
          </a:xfrm>
          <a:prstGeom prst="rect">
            <a:avLst/>
          </a:prstGeom>
          <a:solidFill>
            <a:srgbClr val="618DA6"/>
          </a:solidFill>
          <a:ln w="12700">
            <a:solidFill>
              <a:srgbClr val="618DA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737360" y="3392424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18DA6"/>
                </a:solidFill>
              </a:rPr>
              <a:t>PWM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6629400" y="3355848"/>
            <a:ext cx="36576" cy="274320"/>
          </a:xfrm>
          <a:prstGeom prst="rect">
            <a:avLst/>
          </a:prstGeom>
          <a:solidFill>
            <a:srgbClr val="618DA6"/>
          </a:solidFill>
          <a:ln w="12700">
            <a:solidFill>
              <a:srgbClr val="618DA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897880" y="3392424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18DA6"/>
                </a:solidFill>
              </a:rPr>
              <a:t>Servo-PWM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1280160" y="3630168"/>
            <a:ext cx="2468880" cy="566928"/>
          </a:xfrm>
          <a:prstGeom prst="rect">
            <a:avLst/>
          </a:prstGeom>
          <a:solidFill>
            <a:srgbClr val="0B1927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280160" y="3630168"/>
            <a:ext cx="2468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0B4D8"/>
                </a:solidFill>
              </a:rPr>
              <a:t>DRV8323S  Gate Driver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00B4D8"/>
                </a:solidFill>
              </a:rPr>
              <a:t>3-Phasen Halbbrücke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2496312" y="4197096"/>
            <a:ext cx="36576" cy="256032"/>
          </a:xfrm>
          <a:prstGeom prst="rect">
            <a:avLst/>
          </a:prstGeom>
          <a:solidFill>
            <a:srgbClr val="618DA6"/>
          </a:solidFill>
          <a:ln w="12700">
            <a:solidFill>
              <a:srgbClr val="618DA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280160" y="4453128"/>
            <a:ext cx="2468880" cy="457200"/>
          </a:xfrm>
          <a:prstGeom prst="rect">
            <a:avLst/>
          </a:prstGeom>
          <a:solidFill>
            <a:srgbClr val="0B1927"/>
          </a:solidFill>
          <a:ln w="12700">
            <a:solidFill>
              <a:srgbClr val="F4A225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280160" y="4453128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4A225"/>
                </a:solidFill>
              </a:rPr>
              <a:t>Mini1410  BLDC Motor  2500 kV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5394960" y="3630168"/>
            <a:ext cx="2468880" cy="566928"/>
          </a:xfrm>
          <a:prstGeom prst="rect">
            <a:avLst/>
          </a:prstGeom>
          <a:solidFill>
            <a:srgbClr val="0B1927"/>
          </a:solidFill>
          <a:ln w="12700">
            <a:solidFill>
              <a:srgbClr val="0096C7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394960" y="3630168"/>
            <a:ext cx="2468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096C7"/>
                </a:solidFill>
              </a:rPr>
              <a:t>S0009M  Lenkservo 9g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0096C7"/>
                </a:solidFill>
              </a:rPr>
              <a:t>50 Hz · 1000–2000 µs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347472" y="4727448"/>
            <a:ext cx="8449056" cy="320040"/>
          </a:xfrm>
          <a:prstGeom prst="rect">
            <a:avLst/>
          </a:prstGeom>
          <a:solidFill>
            <a:srgbClr val="0B1927"/>
          </a:solidFill>
          <a:ln w="12700">
            <a:solidFill>
              <a:srgbClr val="1A3249"/>
            </a:solidFill>
            <a:prstDash val="solid"/>
          </a:ln>
          <a:effectLst>
            <a:outerShdw sx="100000" sy="100000" kx="0" ky="0" algn="bl" rotWithShape="0" blurRad="114300" dist="25400" dir="8100000">
              <a:srgbClr val="000000">
                <a:alpha val="20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347472" y="4727448"/>
            <a:ext cx="45720" cy="320040"/>
          </a:xfrm>
          <a:prstGeom prst="rect">
            <a:avLst/>
          </a:prstGeom>
          <a:solidFill>
            <a:srgbClr val="1A3249"/>
          </a:solidFill>
          <a:ln w="12700">
            <a:solidFill>
              <a:srgbClr val="1A3249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75488" y="4764024"/>
            <a:ext cx="8138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18DA6"/>
                </a:solidFill>
              </a:rPr>
              <a:t>Energie:  USB-C PD 12V  →  Lade IC  →  2S LiPo  →  MUX  →  Buck  →  3.3V (ESP32)  ·  LiPo direkt  →  DRV8323 + FETs (Motorpfad)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710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5488" y="11887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500" kern="0" dirty="0">
                <a:solidFill>
                  <a:srgbClr val="F4A225"/>
                </a:solidFill>
              </a:rPr>
              <a:t>TEIL 1 — HARDWARE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75488" y="384048"/>
            <a:ext cx="8229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</a:rPr>
              <a:t>PCB — Stromversorgung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475488" y="1042416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18DA6"/>
                </a:solidFill>
              </a:rPr>
              <a:t>Altium Designer · Custom 2-Lagen Board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47472" y="1408176"/>
            <a:ext cx="1737360" cy="530352"/>
          </a:xfrm>
          <a:prstGeom prst="rect">
            <a:avLst/>
          </a:prstGeom>
          <a:solidFill>
            <a:srgbClr val="0B1927"/>
          </a:solidFill>
          <a:ln w="12700">
            <a:solidFill>
              <a:srgbClr val="9B5DE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47472" y="1408176"/>
            <a:ext cx="1737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9B5DE5"/>
                </a:solidFill>
              </a:rPr>
              <a:t>USB-C PD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9B5DE5"/>
                </a:solidFill>
              </a:rPr>
              <a:t>12 V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347472" y="2743200"/>
            <a:ext cx="1737360" cy="530352"/>
          </a:xfrm>
          <a:prstGeom prst="rect">
            <a:avLst/>
          </a:prstGeom>
          <a:solidFill>
            <a:srgbClr val="0B1927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2743200"/>
            <a:ext cx="1737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E63946"/>
                </a:solidFill>
              </a:rPr>
              <a:t>2S LiPo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E63946"/>
                </a:solidFill>
              </a:rPr>
              <a:t>7.4 V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1207008" y="1938528"/>
            <a:ext cx="36576" cy="292608"/>
          </a:xfrm>
          <a:prstGeom prst="rect">
            <a:avLst/>
          </a:prstGeom>
          <a:solidFill>
            <a:srgbClr val="618DA6"/>
          </a:solidFill>
          <a:ln w="12700">
            <a:solidFill>
              <a:srgbClr val="618DA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47472" y="2231136"/>
            <a:ext cx="1737360" cy="530352"/>
          </a:xfrm>
          <a:prstGeom prst="rect">
            <a:avLst/>
          </a:prstGeom>
          <a:solidFill>
            <a:srgbClr val="0B1927"/>
          </a:solidFill>
          <a:ln w="12700">
            <a:solidFill>
              <a:srgbClr val="F4A22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7472" y="2231136"/>
            <a:ext cx="1737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4A225"/>
                </a:solidFill>
              </a:rPr>
              <a:t>Lade IC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4A225"/>
                </a:solidFill>
              </a:rPr>
              <a:t>12V → CC/CV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2084832" y="2496312"/>
            <a:ext cx="457200" cy="36576"/>
          </a:xfrm>
          <a:prstGeom prst="rect">
            <a:avLst/>
          </a:prstGeom>
          <a:solidFill>
            <a:srgbClr val="F4A225"/>
          </a:solidFill>
          <a:ln w="12700">
            <a:solidFill>
              <a:srgbClr val="F4A22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103120" y="2340864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18DA6"/>
                </a:solidFill>
              </a:rPr>
              <a:t>lädt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2084832" y="3008376"/>
            <a:ext cx="457200" cy="36576"/>
          </a:xfrm>
          <a:prstGeom prst="rect">
            <a:avLst/>
          </a:prstGeom>
          <a:solidFill>
            <a:srgbClr val="618DA6"/>
          </a:solidFill>
          <a:ln w="12700">
            <a:solidFill>
              <a:srgbClr val="618DA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542032" y="2743200"/>
            <a:ext cx="1737360" cy="530352"/>
          </a:xfrm>
          <a:prstGeom prst="rect">
            <a:avLst/>
          </a:prstGeom>
          <a:solidFill>
            <a:srgbClr val="0B1927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542032" y="2743200"/>
            <a:ext cx="1737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E63946"/>
                </a:solidFill>
              </a:rPr>
              <a:t>BMS IC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E63946"/>
                </a:solidFill>
              </a:rPr>
              <a:t>Balancing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1207008" y="3273552"/>
            <a:ext cx="36576" cy="347472"/>
          </a:xfrm>
          <a:prstGeom prst="rect">
            <a:avLst/>
          </a:prstGeom>
          <a:solidFill>
            <a:srgbClr val="618DA6"/>
          </a:solidFill>
          <a:ln w="12700">
            <a:solidFill>
              <a:srgbClr val="618DA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401568" y="3273552"/>
            <a:ext cx="36576" cy="347472"/>
          </a:xfrm>
          <a:prstGeom prst="rect">
            <a:avLst/>
          </a:prstGeom>
          <a:solidFill>
            <a:srgbClr val="618DA6"/>
          </a:solidFill>
          <a:ln w="12700">
            <a:solidFill>
              <a:srgbClr val="618DA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207008" y="3621024"/>
            <a:ext cx="2231136" cy="36576"/>
          </a:xfrm>
          <a:prstGeom prst="rect">
            <a:avLst/>
          </a:prstGeom>
          <a:solidFill>
            <a:srgbClr val="618DA6"/>
          </a:solidFill>
          <a:ln w="12700">
            <a:solidFill>
              <a:srgbClr val="618DA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304288" y="3621024"/>
            <a:ext cx="36576" cy="292608"/>
          </a:xfrm>
          <a:prstGeom prst="rect">
            <a:avLst/>
          </a:prstGeom>
          <a:solidFill>
            <a:srgbClr val="618DA6"/>
          </a:solidFill>
          <a:ln w="12700">
            <a:solidFill>
              <a:srgbClr val="618DA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444752" y="3913632"/>
            <a:ext cx="1737360" cy="530352"/>
          </a:xfrm>
          <a:prstGeom prst="rect">
            <a:avLst/>
          </a:prstGeom>
          <a:solidFill>
            <a:srgbClr val="0B1927"/>
          </a:solidFill>
          <a:ln w="12700">
            <a:solidFill>
              <a:srgbClr val="0096C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444752" y="3913632"/>
            <a:ext cx="1737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096C7"/>
                </a:solidFill>
              </a:rPr>
              <a:t>MUX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0096C7"/>
                </a:solidFill>
              </a:rPr>
              <a:t>Quellenauswahl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3182112" y="4178808"/>
            <a:ext cx="347472" cy="36576"/>
          </a:xfrm>
          <a:prstGeom prst="rect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529584" y="3913632"/>
            <a:ext cx="1737360" cy="530352"/>
          </a:xfrm>
          <a:prstGeom prst="rect">
            <a:avLst/>
          </a:prstGeom>
          <a:solidFill>
            <a:srgbClr val="0B1927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529584" y="3913632"/>
            <a:ext cx="1737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EC4B6"/>
                </a:solidFill>
              </a:rPr>
              <a:t>Buck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2EC4B6"/>
                </a:solidFill>
              </a:rPr>
              <a:t>Conv. → 3.3V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266944" y="4178808"/>
            <a:ext cx="347472" cy="3657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614416" y="3913632"/>
            <a:ext cx="1737360" cy="530352"/>
          </a:xfrm>
          <a:prstGeom prst="rect">
            <a:avLst/>
          </a:prstGeom>
          <a:solidFill>
            <a:srgbClr val="0B1927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614416" y="3913632"/>
            <a:ext cx="1737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0B4D8"/>
                </a:solidFill>
              </a:rPr>
              <a:t>ESP32-S3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00B4D8"/>
                </a:solidFill>
              </a:rPr>
              <a:t>3.3 V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2084832" y="2852928"/>
            <a:ext cx="3291840" cy="36576"/>
          </a:xfrm>
          <a:prstGeom prst="rect">
            <a:avLst/>
          </a:prstGeom>
          <a:solidFill>
            <a:srgbClr val="F4A225"/>
          </a:solidFill>
          <a:ln w="12700">
            <a:solidFill>
              <a:srgbClr val="F4A225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340096" y="1408176"/>
            <a:ext cx="36576" cy="1481328"/>
          </a:xfrm>
          <a:prstGeom prst="rect">
            <a:avLst/>
          </a:prstGeom>
          <a:solidFill>
            <a:srgbClr val="F4A225"/>
          </a:solidFill>
          <a:ln w="12700">
            <a:solidFill>
              <a:srgbClr val="F4A225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572000" y="1408176"/>
            <a:ext cx="1737360" cy="530352"/>
          </a:xfrm>
          <a:prstGeom prst="rect">
            <a:avLst/>
          </a:prstGeom>
          <a:solidFill>
            <a:srgbClr val="0B1927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572000" y="1408176"/>
            <a:ext cx="1737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0B4D8"/>
                </a:solidFill>
              </a:rPr>
              <a:t>DRV8323S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00B4D8"/>
                </a:solidFill>
              </a:rPr>
              <a:t>+ MOSFETs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5230368" y="1481328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F4A225"/>
                </a:solidFill>
              </a:rPr>
              <a:t>Batteriespannung direkt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5340096" y="2889504"/>
            <a:ext cx="36576" cy="987552"/>
          </a:xfrm>
          <a:prstGeom prst="rect">
            <a:avLst/>
          </a:prstGeom>
          <a:solidFill>
            <a:srgbClr val="F4A225"/>
          </a:solidFill>
          <a:ln w="12700">
            <a:solidFill>
              <a:srgbClr val="F4A225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7424928" y="1408176"/>
            <a:ext cx="1371600" cy="2999232"/>
          </a:xfrm>
          <a:prstGeom prst="rect">
            <a:avLst/>
          </a:prstGeom>
          <a:solidFill>
            <a:srgbClr val="0B1927"/>
          </a:solidFill>
          <a:ln w="12700">
            <a:solidFill>
              <a:srgbClr val="1A3249"/>
            </a:solidFill>
            <a:prstDash val="solid"/>
          </a:ln>
          <a:effectLst>
            <a:outerShdw sx="100000" sy="100000" kx="0" ky="0" algn="bl" rotWithShape="0" blurRad="114300" dist="25400" dir="8100000">
              <a:srgbClr val="000000">
                <a:alpha val="20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7424928" y="1408176"/>
            <a:ext cx="45720" cy="2999232"/>
          </a:xfrm>
          <a:prstGeom prst="rect">
            <a:avLst/>
          </a:prstGeom>
          <a:solidFill>
            <a:srgbClr val="1A3249"/>
          </a:solidFill>
          <a:ln w="12700">
            <a:solidFill>
              <a:srgbClr val="1A3249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516368" y="148132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B4D8"/>
                </a:solidFill>
              </a:rPr>
              <a:t>ICs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7516368" y="1828800"/>
            <a:ext cx="1170432" cy="347472"/>
          </a:xfrm>
          <a:prstGeom prst="rect">
            <a:avLst/>
          </a:prstGeom>
          <a:solidFill>
            <a:srgbClr val="1A3248"/>
          </a:solidFill>
          <a:ln w="12700">
            <a:solidFill>
              <a:srgbClr val="0096C7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516368" y="1828800"/>
            <a:ext cx="11704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096C7"/>
                </a:solidFill>
              </a:rPr>
              <a:t>ESP32-S3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7516368" y="2240280"/>
            <a:ext cx="1170432" cy="347472"/>
          </a:xfrm>
          <a:prstGeom prst="rect">
            <a:avLst/>
          </a:prstGeom>
          <a:solidFill>
            <a:srgbClr val="1A324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516368" y="2240280"/>
            <a:ext cx="11704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0B4D8"/>
                </a:solidFill>
              </a:rPr>
              <a:t>DRV8323S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7516368" y="2651760"/>
            <a:ext cx="1170432" cy="347472"/>
          </a:xfrm>
          <a:prstGeom prst="rect">
            <a:avLst/>
          </a:prstGeom>
          <a:solidFill>
            <a:srgbClr val="1A3248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516368" y="2651760"/>
            <a:ext cx="11704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EC4B6"/>
                </a:solidFill>
              </a:rPr>
              <a:t>Buck Conv.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7516368" y="3063240"/>
            <a:ext cx="1170432" cy="347472"/>
          </a:xfrm>
          <a:prstGeom prst="rect">
            <a:avLst/>
          </a:prstGeom>
          <a:solidFill>
            <a:srgbClr val="1A3248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7516368" y="3063240"/>
            <a:ext cx="11704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E63946"/>
                </a:solidFill>
              </a:rPr>
              <a:t>BMS IC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7516368" y="3474720"/>
            <a:ext cx="1170432" cy="347472"/>
          </a:xfrm>
          <a:prstGeom prst="rect">
            <a:avLst/>
          </a:prstGeom>
          <a:solidFill>
            <a:srgbClr val="1A3248"/>
          </a:solidFill>
          <a:ln w="12700">
            <a:solidFill>
              <a:srgbClr val="F4A225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7516368" y="3474720"/>
            <a:ext cx="11704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4A225"/>
                </a:solidFill>
              </a:rPr>
              <a:t>Lade IC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7516368" y="3886200"/>
            <a:ext cx="1170432" cy="347472"/>
          </a:xfrm>
          <a:prstGeom prst="rect">
            <a:avLst/>
          </a:prstGeom>
          <a:solidFill>
            <a:srgbClr val="1A3248"/>
          </a:solidFill>
          <a:ln w="12700">
            <a:solidFill>
              <a:srgbClr val="618DA6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7516368" y="3886200"/>
            <a:ext cx="11704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18DA6"/>
                </a:solidFill>
              </a:rPr>
              <a:t>N-FETs ×6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710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5488" y="11887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500" kern="0" dirty="0">
                <a:solidFill>
                  <a:srgbClr val="F4A225"/>
                </a:solidFill>
              </a:rPr>
              <a:t>TEIL 1 — APP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75488" y="384048"/>
            <a:ext cx="8229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</a:rPr>
              <a:t>Flutter App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475488" y="1042416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18DA6"/>
                </a:solidFill>
              </a:rPr>
              <a:t>Cross-Platform Controller — Android · iOS · Windows · Web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47472" y="1426464"/>
            <a:ext cx="1417320" cy="265176"/>
          </a:xfrm>
          <a:prstGeom prst="rect">
            <a:avLst/>
          </a:prstGeom>
          <a:solidFill>
            <a:srgbClr val="0096C7"/>
          </a:solidFill>
          <a:ln w="12700">
            <a:solidFill>
              <a:srgbClr val="0096C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47472" y="1426464"/>
            <a:ext cx="14173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Android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1883664" y="1426464"/>
            <a:ext cx="1417320" cy="265176"/>
          </a:xfrm>
          <a:prstGeom prst="rect">
            <a:avLst/>
          </a:prstGeom>
          <a:solidFill>
            <a:srgbClr val="0096C7"/>
          </a:solidFill>
          <a:ln w="12700">
            <a:solidFill>
              <a:srgbClr val="0096C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883664" y="1426464"/>
            <a:ext cx="14173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iOS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19856" y="1426464"/>
            <a:ext cx="1417320" cy="265176"/>
          </a:xfrm>
          <a:prstGeom prst="rect">
            <a:avLst/>
          </a:prstGeom>
          <a:solidFill>
            <a:srgbClr val="0096C7"/>
          </a:solidFill>
          <a:ln w="12700">
            <a:solidFill>
              <a:srgbClr val="0096C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19856" y="1426464"/>
            <a:ext cx="14173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Windows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956048" y="1426464"/>
            <a:ext cx="1417320" cy="265176"/>
          </a:xfrm>
          <a:prstGeom prst="rect">
            <a:avLst/>
          </a:prstGeom>
          <a:solidFill>
            <a:srgbClr val="0096C7"/>
          </a:solidFill>
          <a:ln w="12700">
            <a:solidFill>
              <a:srgbClr val="0096C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956048" y="1426464"/>
            <a:ext cx="14173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Web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47472" y="1828800"/>
            <a:ext cx="3840480" cy="3063240"/>
          </a:xfrm>
          <a:prstGeom prst="rect">
            <a:avLst/>
          </a:prstGeom>
          <a:solidFill>
            <a:srgbClr val="091625"/>
          </a:solidFill>
          <a:ln w="19050">
            <a:solidFill>
              <a:srgbClr val="0096C7"/>
            </a:solidFill>
            <a:prstDash val="dash"/>
          </a:ln>
        </p:spPr>
      </p:sp>
      <p:sp>
        <p:nvSpPr>
          <p:cNvPr id="14" name="Text 12"/>
          <p:cNvSpPr/>
          <p:nvPr/>
        </p:nvSpPr>
        <p:spPr>
          <a:xfrm>
            <a:off x="347472" y="1828800"/>
            <a:ext cx="3840480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3248"/>
                </a:solidFill>
              </a:rPr>
              <a:t>[ APP SCREENSHOT ]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4343400" y="1828800"/>
            <a:ext cx="4453128" cy="1389888"/>
          </a:xfrm>
          <a:prstGeom prst="rect">
            <a:avLst/>
          </a:prstGeom>
          <a:solidFill>
            <a:srgbClr val="0B1927"/>
          </a:solidFill>
          <a:ln w="12700">
            <a:solidFill>
              <a:srgbClr val="00B4D8"/>
            </a:solidFill>
            <a:prstDash val="solid"/>
          </a:ln>
          <a:effectLst>
            <a:outerShdw sx="100000" sy="100000" kx="0" ky="0" algn="bl" rotWithShape="0" blurRad="114300" dist="25400" dir="8100000">
              <a:srgbClr val="000000">
                <a:alpha val="2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343400" y="1828800"/>
            <a:ext cx="45720" cy="138988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07992" y="1901952"/>
            <a:ext cx="4114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B4D8"/>
                </a:solidFill>
              </a:rPr>
              <a:t>Steuerung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507992" y="2258568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B4D8"/>
                </a:solidFill>
              </a:rPr>
              <a:t>▸  </a:t>
            </a:r>
            <a:pPr indent="0" marL="0">
              <a:buNone/>
            </a:pPr>
            <a:r>
              <a:rPr lang="en-US" sz="1100" dirty="0">
                <a:solidFill>
                  <a:srgbClr val="C4E2F0"/>
                </a:solidFill>
              </a:rPr>
              <a:t>Linker Joystick  →  Gas / Bremse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507992" y="2587752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B4D8"/>
                </a:solidFill>
              </a:rPr>
              <a:t>▸  </a:t>
            </a:r>
            <a:pPr indent="0" marL="0">
              <a:buNone/>
            </a:pPr>
            <a:r>
              <a:rPr lang="en-US" sz="1100" dirty="0">
                <a:solidFill>
                  <a:srgbClr val="C4E2F0"/>
                </a:solidFill>
              </a:rPr>
              <a:t>Rechter Joystick →  Lenkung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507992" y="2916936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B4D8"/>
                </a:solidFill>
              </a:rPr>
              <a:t>▸  </a:t>
            </a:r>
            <a:pPr indent="0" marL="0">
              <a:buNone/>
            </a:pPr>
            <a:r>
              <a:rPr lang="en-US" sz="1100" dirty="0">
                <a:solidFill>
                  <a:srgbClr val="C4E2F0"/>
                </a:solidFill>
              </a:rPr>
              <a:t>Gamepad R2/RT = Gas · L2/LT = Rückwärts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343400" y="3355848"/>
            <a:ext cx="4453128" cy="1536192"/>
          </a:xfrm>
          <a:prstGeom prst="rect">
            <a:avLst/>
          </a:prstGeom>
          <a:solidFill>
            <a:srgbClr val="0B1927"/>
          </a:solidFill>
          <a:ln w="12700">
            <a:solidFill>
              <a:srgbClr val="9B5DE5"/>
            </a:solidFill>
            <a:prstDash val="solid"/>
          </a:ln>
          <a:effectLst>
            <a:outerShdw sx="100000" sy="100000" kx="0" ky="0" algn="bl" rotWithShape="0" blurRad="114300" dist="25400" dir="8100000">
              <a:srgbClr val="000000">
                <a:alpha val="2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343400" y="3355848"/>
            <a:ext cx="45720" cy="1536192"/>
          </a:xfrm>
          <a:prstGeom prst="rect">
            <a:avLst/>
          </a:prstGeom>
          <a:solidFill>
            <a:srgbClr val="9B5DE5"/>
          </a:solidFill>
          <a:ln w="12700">
            <a:solidFill>
              <a:srgbClr val="9B5DE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07992" y="3429000"/>
            <a:ext cx="4114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B5DE5"/>
                </a:solidFill>
              </a:rPr>
              <a:t>Features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4507992" y="3785616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B5DE5"/>
                </a:solidFill>
              </a:rPr>
              <a:t>▸  </a:t>
            </a:r>
            <a:pPr indent="0" marL="0">
              <a:buNone/>
            </a:pPr>
            <a:r>
              <a:rPr lang="en-US" sz="1050" dirty="0">
                <a:solidFill>
                  <a:srgbClr val="C4E2F0"/>
                </a:solidFill>
              </a:rPr>
              <a:t>Auto-Discovery  (UDP · TCP-Scan · AP-Fallback)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4507992" y="4078224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B5DE5"/>
                </a:solidFill>
              </a:rPr>
              <a:t>▸  </a:t>
            </a:r>
            <a:pPr indent="0" marL="0">
              <a:buNone/>
            </a:pPr>
            <a:r>
              <a:rPr lang="en-US" sz="1050" dirty="0">
                <a:solidFill>
                  <a:srgbClr val="C4E2F0"/>
                </a:solidFill>
              </a:rPr>
              <a:t>Automatischer Reconnect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4507992" y="4370832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B5DE5"/>
                </a:solidFill>
              </a:rPr>
              <a:t>▸  </a:t>
            </a:r>
            <a:pPr indent="0" marL="0">
              <a:buNone/>
            </a:pPr>
            <a:r>
              <a:rPr lang="en-US" sz="1050" dirty="0">
                <a:solidFill>
                  <a:srgbClr val="C4E2F0"/>
                </a:solidFill>
              </a:rPr>
              <a:t>GitHub Self-Update  (Android In-App)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4507992" y="4663440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B5DE5"/>
                </a:solidFill>
              </a:rPr>
              <a:t>▸  </a:t>
            </a:r>
            <a:pPr indent="0" marL="0">
              <a:buNone/>
            </a:pPr>
            <a:r>
              <a:rPr lang="en-US" sz="1050" dirty="0">
                <a:solidFill>
                  <a:srgbClr val="C4E2F0"/>
                </a:solidFill>
              </a:rPr>
              <a:t>Dark Theme · Developer Panel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710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5488" y="11887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500" kern="0" dirty="0">
                <a:solidFill>
                  <a:srgbClr val="F4A225"/>
                </a:solidFill>
              </a:rPr>
              <a:t>TEIL 1 — APP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75488" y="384048"/>
            <a:ext cx="8229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</a:rPr>
              <a:t>Kommunikation: App ↔ ESP32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475488" y="1042416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18DA6"/>
                </a:solidFill>
              </a:rPr>
              <a:t>Verbindungsaufbau · Protokoll · Failsafe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47472" y="1389888"/>
            <a:ext cx="8449056" cy="1280160"/>
          </a:xfrm>
          <a:prstGeom prst="rect">
            <a:avLst/>
          </a:prstGeom>
          <a:solidFill>
            <a:srgbClr val="0B1927"/>
          </a:solidFill>
          <a:ln w="12700">
            <a:solidFill>
              <a:srgbClr val="00B4D8"/>
            </a:solidFill>
            <a:prstDash val="solid"/>
          </a:ln>
          <a:effectLst>
            <a:outerShdw sx="100000" sy="100000" kx="0" ky="0" algn="bl" rotWithShape="0" blurRad="114300" dist="25400" dir="8100000">
              <a:srgbClr val="000000">
                <a:alpha val="2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47472" y="1389888"/>
            <a:ext cx="45720" cy="128016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472184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B4D8"/>
                </a:solidFill>
              </a:rPr>
              <a:t>Schritt 1 — Auto-Discovery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02920" y="1856232"/>
            <a:ext cx="27432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B4D8"/>
                </a:solidFill>
              </a:rPr>
              <a:t>UDP Broadcast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502920" y="2121408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18DA6"/>
                </a:solidFill>
              </a:rPr>
              <a:t>App sendet → ESP32 antwortet mit IP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337560" y="1856232"/>
            <a:ext cx="27432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96C7"/>
                </a:solidFill>
              </a:rPr>
              <a:t>TCP Subnet-Scan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3337560" y="2121408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18DA6"/>
                </a:solidFill>
              </a:rPr>
              <a:t>Fallback: scannt Subnetz auf WS-Port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172200" y="1856232"/>
            <a:ext cx="27432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618DA6"/>
                </a:solidFill>
              </a:rPr>
              <a:t>AP-Mode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6172200" y="2121408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18DA6"/>
                </a:solidFill>
              </a:rPr>
              <a:t>192.168.4.1  (ESP32 als Access Point)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47472" y="2816352"/>
            <a:ext cx="8449056" cy="2029968"/>
          </a:xfrm>
          <a:prstGeom prst="rect">
            <a:avLst/>
          </a:prstGeom>
          <a:solidFill>
            <a:srgbClr val="0B1927"/>
          </a:solidFill>
          <a:ln w="12700">
            <a:solidFill>
              <a:srgbClr val="0096C7"/>
            </a:solidFill>
            <a:prstDash val="solid"/>
          </a:ln>
          <a:effectLst>
            <a:outerShdw sx="100000" sy="100000" kx="0" ky="0" algn="bl" rotWithShape="0" blurRad="114300" dist="25400" dir="8100000">
              <a:srgbClr val="000000">
                <a:alpha val="2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47472" y="2816352"/>
            <a:ext cx="45720" cy="2029968"/>
          </a:xfrm>
          <a:prstGeom prst="rect">
            <a:avLst/>
          </a:prstGeom>
          <a:solidFill>
            <a:srgbClr val="0096C7"/>
          </a:solidFill>
          <a:ln w="12700">
            <a:solidFill>
              <a:srgbClr val="0096C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" y="2898648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96C7"/>
                </a:solidFill>
              </a:rPr>
              <a:t>Schritt 2 — WebSocket  ws://[IP]:80/ws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457200" y="3337560"/>
            <a:ext cx="3657600" cy="1353312"/>
          </a:xfrm>
          <a:prstGeom prst="rect">
            <a:avLst/>
          </a:prstGeom>
          <a:solidFill>
            <a:srgbClr val="0A1B2E"/>
          </a:solidFill>
          <a:ln w="12700">
            <a:solidFill>
              <a:srgbClr val="F4A22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94360" y="3401568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4A225"/>
                </a:solidFill>
              </a:rPr>
              <a:t>App → ESP32  (50 Hz Steuerbefehl)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94360" y="3694176"/>
            <a:ext cx="3383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4E2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4E2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"throttle": -1000 … +1000,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4E2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"steer":    -1000 … +1000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4E2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72000" y="3337560"/>
            <a:ext cx="3657600" cy="1353312"/>
          </a:xfrm>
          <a:prstGeom prst="rect">
            <a:avLst/>
          </a:prstGeom>
          <a:solidFill>
            <a:srgbClr val="0A1B2E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09160" y="3401568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C4B6"/>
                </a:solidFill>
              </a:rPr>
              <a:t>ESP32 → App  (1 × pro Sekunde)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709160" y="3694176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4E2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 "batt": 0 … 100 }  // Batterie %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709160" y="4114800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63946"/>
                </a:solidFill>
              </a:rPr>
              <a:t>Failsafe: 500 ms kein Paket → Nullbefehl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40C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554480" cy="5143500"/>
          </a:xfrm>
          <a:prstGeom prst="rect">
            <a:avLst/>
          </a:prstGeom>
          <a:solidFill>
            <a:srgbClr val="00B4D8">
              <a:alpha val="12000"/>
            </a:srgbClr>
          </a:solidFill>
          <a:ln w="12700">
            <a:solidFill>
              <a:srgbClr val="00B4D8">
                <a:alpha val="12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0096C7">
              <a:alpha val="30000"/>
            </a:srgbClr>
          </a:solidFill>
          <a:ln w="12700">
            <a:solidFill>
              <a:srgbClr val="0096C7">
                <a:alpha val="3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011680" y="777240"/>
            <a:ext cx="6858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1000" kern="0" dirty="0">
                <a:solidFill>
                  <a:srgbClr val="00B4D8"/>
                </a:solidFill>
              </a:rPr>
              <a:t>TEIL 2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2011680" y="1261872"/>
            <a:ext cx="68580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</a:rPr>
              <a:t>ESP Firmware</a:t>
            </a:r>
            <a:endParaRPr lang="en-US" sz="4600" dirty="0"/>
          </a:p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</a:rPr>
              <a:t>&amp; Mechanik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2011680" y="3090672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18DA6"/>
                </a:solidFill>
              </a:rPr>
              <a:t>FreeRTOS · 6-Step BLDC · WiFi · 3D-Druck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011680" y="3493008"/>
            <a:ext cx="3200400" cy="3200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011680" y="3675888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96C7"/>
                </a:solidFill>
              </a:rPr>
              <a:t>ESP-IDF 6.0 · PlatformIO · FreeRTOS 1000 Hz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710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5488" y="11887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500" kern="0" dirty="0">
                <a:solidFill>
                  <a:srgbClr val="00B4D8"/>
                </a:solidFill>
              </a:rPr>
              <a:t>TEIL 2 — FIRMWARE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75488" y="384048"/>
            <a:ext cx="8229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</a:rPr>
              <a:t>FreeRTOS — 4 Tasks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475488" y="1042416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18DA6"/>
                </a:solidFill>
              </a:rPr>
              <a:t>Jeder Task hat eine klare Verantwortung · ESP-IDF 6.0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92608" y="1408176"/>
            <a:ext cx="2057400" cy="3401568"/>
          </a:xfrm>
          <a:prstGeom prst="rect">
            <a:avLst/>
          </a:prstGeom>
          <a:solidFill>
            <a:srgbClr val="0B1927"/>
          </a:solidFill>
          <a:ln w="12700">
            <a:solidFill>
              <a:srgbClr val="E63946"/>
            </a:solidFill>
            <a:prstDash val="solid"/>
          </a:ln>
          <a:effectLst>
            <a:outerShdw sx="100000" sy="100000" kx="0" ky="0" algn="bl" rotWithShape="0" blurRad="114300" dist="25400" dir="8100000">
              <a:srgbClr val="000000">
                <a:alpha val="2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92608" y="1408176"/>
            <a:ext cx="45720" cy="3401568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38912" y="1490472"/>
            <a:ext cx="18013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6394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motor_task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38912" y="1865376"/>
            <a:ext cx="18013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18DA6"/>
                </a:solidFill>
              </a:rPr>
              <a:t>Prio 10  ·  4 KB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38912" y="2130552"/>
            <a:ext cx="1719072" cy="32004"/>
          </a:xfrm>
          <a:prstGeom prst="rect">
            <a:avLst/>
          </a:prstGeom>
          <a:solidFill>
            <a:srgbClr val="1A3249"/>
          </a:solidFill>
          <a:ln w="12700">
            <a:solidFill>
              <a:srgbClr val="1A324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38912" y="2231136"/>
            <a:ext cx="18013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63946"/>
                </a:solidFill>
              </a:rPr>
              <a:t>▸  </a:t>
            </a:r>
            <a:pPr indent="0" marL="0">
              <a:buNone/>
            </a:pPr>
            <a:r>
              <a:rPr lang="en-US" sz="1050" dirty="0">
                <a:solidFill>
                  <a:srgbClr val="C4E2F0"/>
                </a:solidFill>
              </a:rPr>
              <a:t>6-Step BLDC Kommutierung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38912" y="2761488"/>
            <a:ext cx="18013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63946"/>
                </a:solidFill>
              </a:rPr>
              <a:t>▸  </a:t>
            </a:r>
            <a:pPr indent="0" marL="0">
              <a:buNone/>
            </a:pPr>
            <a:r>
              <a:rPr lang="en-US" sz="1050" dirty="0">
                <a:solidFill>
                  <a:srgbClr val="C4E2F0"/>
                </a:solidFill>
              </a:rPr>
              <a:t>DRV8323S SPI + Fault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38912" y="3291840"/>
            <a:ext cx="18013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63946"/>
                </a:solidFill>
              </a:rPr>
              <a:t>▸  </a:t>
            </a:r>
            <a:pPr indent="0" marL="0">
              <a:buNone/>
            </a:pPr>
            <a:r>
              <a:rPr lang="en-US" sz="1050" dirty="0">
                <a:solidFill>
                  <a:srgbClr val="C4E2F0"/>
                </a:solidFill>
              </a:rPr>
              <a:t>Safe-Mode → Suspend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2468880" y="1408176"/>
            <a:ext cx="2057400" cy="3401568"/>
          </a:xfrm>
          <a:prstGeom prst="rect">
            <a:avLst/>
          </a:prstGeom>
          <a:solidFill>
            <a:srgbClr val="0B1927"/>
          </a:solidFill>
          <a:ln w="12700">
            <a:solidFill>
              <a:srgbClr val="0096C7"/>
            </a:solidFill>
            <a:prstDash val="solid"/>
          </a:ln>
          <a:effectLst>
            <a:outerShdw sx="100000" sy="100000" kx="0" ky="0" algn="bl" rotWithShape="0" blurRad="114300" dist="25400" dir="8100000">
              <a:srgbClr val="000000">
                <a:alpha val="2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468880" y="1408176"/>
            <a:ext cx="45720" cy="3401568"/>
          </a:xfrm>
          <a:prstGeom prst="rect">
            <a:avLst/>
          </a:prstGeom>
          <a:solidFill>
            <a:srgbClr val="0096C7"/>
          </a:solidFill>
          <a:ln w="12700">
            <a:solidFill>
              <a:srgbClr val="0096C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615184" y="1490472"/>
            <a:ext cx="18013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96C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comms_task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2615184" y="1865376"/>
            <a:ext cx="18013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18DA6"/>
                </a:solidFill>
              </a:rPr>
              <a:t>Prio 7  ·  8 KB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2615184" y="2130552"/>
            <a:ext cx="1719072" cy="32004"/>
          </a:xfrm>
          <a:prstGeom prst="rect">
            <a:avLst/>
          </a:prstGeom>
          <a:solidFill>
            <a:srgbClr val="1A3249"/>
          </a:solidFill>
          <a:ln w="12700">
            <a:solidFill>
              <a:srgbClr val="1A324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615184" y="2231136"/>
            <a:ext cx="18013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96C7"/>
                </a:solidFill>
              </a:rPr>
              <a:t>▸  </a:t>
            </a:r>
            <a:pPr indent="0" marL="0">
              <a:buNone/>
            </a:pPr>
            <a:r>
              <a:rPr lang="en-US" sz="1050" dirty="0">
                <a:solidFill>
                  <a:srgbClr val="C4E2F0"/>
                </a:solidFill>
              </a:rPr>
              <a:t>WiFi esp_wifi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2615184" y="2761488"/>
            <a:ext cx="18013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96C7"/>
                </a:solidFill>
              </a:rPr>
              <a:t>▸  </a:t>
            </a:r>
            <a:pPr indent="0" marL="0">
              <a:buNone/>
            </a:pPr>
            <a:r>
              <a:rPr lang="en-US" sz="1050" dirty="0">
                <a:solidFill>
                  <a:srgbClr val="C4E2F0"/>
                </a:solidFill>
              </a:rPr>
              <a:t>WebSocket Port 80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2615184" y="3291840"/>
            <a:ext cx="18013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96C7"/>
                </a:solidFill>
              </a:rPr>
              <a:t>▸  </a:t>
            </a:r>
            <a:pPr indent="0" marL="0">
              <a:buNone/>
            </a:pPr>
            <a:r>
              <a:rPr lang="en-US" sz="1050" dirty="0">
                <a:solidFill>
                  <a:srgbClr val="C4E2F0"/>
                </a:solidFill>
              </a:rPr>
              <a:t>UDP Discovery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645152" y="1408176"/>
            <a:ext cx="2057400" cy="3401568"/>
          </a:xfrm>
          <a:prstGeom prst="rect">
            <a:avLst/>
          </a:prstGeom>
          <a:solidFill>
            <a:srgbClr val="0B1927"/>
          </a:solidFill>
          <a:ln w="12700">
            <a:solidFill>
              <a:srgbClr val="2EC4B6"/>
            </a:solidFill>
            <a:prstDash val="solid"/>
          </a:ln>
          <a:effectLst>
            <a:outerShdw sx="100000" sy="100000" kx="0" ky="0" algn="bl" rotWithShape="0" blurRad="114300" dist="25400" dir="8100000">
              <a:srgbClr val="000000">
                <a:alpha val="2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645152" y="1408176"/>
            <a:ext cx="45720" cy="3401568"/>
          </a:xfrm>
          <a:prstGeom prst="rect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91456" y="1490472"/>
            <a:ext cx="18013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C4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system_task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791456" y="1865376"/>
            <a:ext cx="18013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18DA6"/>
                </a:solidFill>
              </a:rPr>
              <a:t>Prio 5  ·  6 KB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791456" y="2130552"/>
            <a:ext cx="1719072" cy="32004"/>
          </a:xfrm>
          <a:prstGeom prst="rect">
            <a:avLst/>
          </a:prstGeom>
          <a:solidFill>
            <a:srgbClr val="1A3249"/>
          </a:solidFill>
          <a:ln w="12700">
            <a:solidFill>
              <a:srgbClr val="1A324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791456" y="2231136"/>
            <a:ext cx="18013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EC4B6"/>
                </a:solidFill>
              </a:rPr>
              <a:t>▸  </a:t>
            </a:r>
            <a:pPr indent="0" marL="0">
              <a:buNone/>
            </a:pPr>
            <a:r>
              <a:rPr lang="en-US" sz="1050" dirty="0">
                <a:solidFill>
                  <a:srgbClr val="C4E2F0"/>
                </a:solidFill>
              </a:rPr>
              <a:t>ADC Batterie-Monitor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4791456" y="2761488"/>
            <a:ext cx="18013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EC4B6"/>
                </a:solidFill>
              </a:rPr>
              <a:t>▸  </a:t>
            </a:r>
            <a:pPr indent="0" marL="0">
              <a:buNone/>
            </a:pPr>
            <a:r>
              <a:rPr lang="en-US" sz="1050" dirty="0">
                <a:solidFill>
                  <a:srgbClr val="C4E2F0"/>
                </a:solidFill>
              </a:rPr>
              <a:t>NVS Einstellungen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4791456" y="3291840"/>
            <a:ext cx="18013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EC4B6"/>
                </a:solidFill>
              </a:rPr>
              <a:t>▸  </a:t>
            </a:r>
            <a:pPr indent="0" marL="0">
              <a:buNone/>
            </a:pPr>
            <a:r>
              <a:rPr lang="en-US" sz="1050" dirty="0">
                <a:solidFill>
                  <a:srgbClr val="C4E2F0"/>
                </a:solidFill>
              </a:rPr>
              <a:t>Crash-Recovery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6821424" y="1408176"/>
            <a:ext cx="2057400" cy="3401568"/>
          </a:xfrm>
          <a:prstGeom prst="rect">
            <a:avLst/>
          </a:prstGeom>
          <a:solidFill>
            <a:srgbClr val="0B1927"/>
          </a:solidFill>
          <a:ln w="12700">
            <a:solidFill>
              <a:srgbClr val="618DA6"/>
            </a:solidFill>
            <a:prstDash val="solid"/>
          </a:ln>
          <a:effectLst>
            <a:outerShdw sx="100000" sy="100000" kx="0" ky="0" algn="bl" rotWithShape="0" blurRad="114300" dist="25400" dir="8100000">
              <a:srgbClr val="000000">
                <a:alpha val="2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821424" y="1408176"/>
            <a:ext cx="45720" cy="3401568"/>
          </a:xfrm>
          <a:prstGeom prst="rect">
            <a:avLst/>
          </a:prstGeom>
          <a:solidFill>
            <a:srgbClr val="618DA6"/>
          </a:solidFill>
          <a:ln w="12700">
            <a:solidFill>
              <a:srgbClr val="618DA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967728" y="1490472"/>
            <a:ext cx="18013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18D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bg_task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6967728" y="1865376"/>
            <a:ext cx="18013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18DA6"/>
                </a:solidFill>
              </a:rPr>
              <a:t>Prio 2  ·  6 KB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6967728" y="2130552"/>
            <a:ext cx="1719072" cy="32004"/>
          </a:xfrm>
          <a:prstGeom prst="rect">
            <a:avLst/>
          </a:prstGeom>
          <a:solidFill>
            <a:srgbClr val="1A3249"/>
          </a:solidFill>
          <a:ln w="12700">
            <a:solidFill>
              <a:srgbClr val="1A3249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967728" y="2231136"/>
            <a:ext cx="18013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18DA6"/>
                </a:solidFill>
              </a:rPr>
              <a:t>▸  </a:t>
            </a:r>
            <a:pPr indent="0" marL="0">
              <a:buNone/>
            </a:pPr>
            <a:r>
              <a:rPr lang="en-US" sz="1050" dirty="0">
                <a:solidFill>
                  <a:srgbClr val="C4E2F0"/>
                </a:solidFill>
              </a:rPr>
              <a:t>GitHub FOTA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6967728" y="2761488"/>
            <a:ext cx="18013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18DA6"/>
                </a:solidFill>
              </a:rPr>
              <a:t>▸  </a:t>
            </a:r>
            <a:pPr indent="0" marL="0">
              <a:buNone/>
            </a:pPr>
            <a:r>
              <a:rPr lang="en-US" sz="1050" dirty="0">
                <a:solidFill>
                  <a:srgbClr val="C4E2F0"/>
                </a:solidFill>
              </a:rPr>
              <a:t>Serial Console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6967728" y="3291840"/>
            <a:ext cx="18013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18DA6"/>
                </a:solidFill>
              </a:rPr>
              <a:t>▸  </a:t>
            </a:r>
            <a:pPr indent="0" marL="0">
              <a:buNone/>
            </a:pPr>
            <a:r>
              <a:rPr lang="en-US" sz="1050" dirty="0">
                <a:solidFill>
                  <a:srgbClr val="C4E2F0"/>
                </a:solidFill>
              </a:rPr>
              <a:t>OTA Rollback Guard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292608" y="4663440"/>
            <a:ext cx="8558784" cy="347472"/>
          </a:xfrm>
          <a:prstGeom prst="rect">
            <a:avLst/>
          </a:prstGeom>
          <a:solidFill>
            <a:srgbClr val="0B1927"/>
          </a:solidFill>
          <a:ln w="12700">
            <a:solidFill>
              <a:srgbClr val="1A3249"/>
            </a:solidFill>
            <a:prstDash val="solid"/>
          </a:ln>
          <a:effectLst>
            <a:outerShdw sx="100000" sy="100000" kx="0" ky="0" algn="bl" rotWithShape="0" blurRad="114300" dist="25400" dir="8100000">
              <a:srgbClr val="000000">
                <a:alpha val="20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292608" y="4663440"/>
            <a:ext cx="45720" cy="347472"/>
          </a:xfrm>
          <a:prstGeom prst="rect">
            <a:avLst/>
          </a:prstGeom>
          <a:solidFill>
            <a:srgbClr val="1A3249"/>
          </a:solidFill>
          <a:ln w="12700">
            <a:solidFill>
              <a:srgbClr val="1A3249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57200" y="4700016"/>
            <a:ext cx="82296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18D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comms_task  →  cmd_queue  →  motor_task          system_task  →  batt_queue  →  comms_task  →  WebSocket broadcast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710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5488" y="11887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500" kern="0" dirty="0">
                <a:solidFill>
                  <a:srgbClr val="00B4D8"/>
                </a:solidFill>
              </a:rPr>
              <a:t>TEIL 2 — MOTOR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75488" y="384048"/>
            <a:ext cx="8229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</a:rPr>
              <a:t>Motor &amp; Gate Driver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475488" y="1042416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18DA6"/>
                </a:solidFill>
              </a:rPr>
              <a:t>DRV8323SRTAR · 6-Step Trapez · 20 kHz PWM · Soft-Start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47472" y="1408176"/>
            <a:ext cx="2743200" cy="3474720"/>
          </a:xfrm>
          <a:prstGeom prst="rect">
            <a:avLst/>
          </a:prstGeom>
          <a:solidFill>
            <a:srgbClr val="0B1927"/>
          </a:solidFill>
          <a:ln w="12700">
            <a:solidFill>
              <a:srgbClr val="00B4D8"/>
            </a:solidFill>
            <a:prstDash val="solid"/>
          </a:ln>
          <a:effectLst>
            <a:outerShdw sx="100000" sy="100000" kx="0" ky="0" algn="bl" rotWithShape="0" blurRad="114300" dist="25400" dir="8100000">
              <a:srgbClr val="000000">
                <a:alpha val="2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47472" y="1408176"/>
            <a:ext cx="45720" cy="34747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490472"/>
            <a:ext cx="2423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B4D8"/>
                </a:solidFill>
              </a:rPr>
              <a:t>DRV8323SRTAR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02920" y="1874520"/>
            <a:ext cx="2331720" cy="32004"/>
          </a:xfrm>
          <a:prstGeom prst="rect">
            <a:avLst/>
          </a:prstGeom>
          <a:solidFill>
            <a:srgbClr val="1A3249"/>
          </a:solidFill>
          <a:ln w="12700">
            <a:solidFill>
              <a:srgbClr val="1A324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1975104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18DA6"/>
                </a:solidFill>
              </a:rPr>
              <a:t>Gehäuse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691640" y="1975104"/>
            <a:ext cx="1234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VQFN-40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02920" y="2377440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18DA6"/>
                </a:solidFill>
              </a:rPr>
              <a:t>Spannung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691640" y="2377440"/>
            <a:ext cx="1234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6 – 60 V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02920" y="2779776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18DA6"/>
                </a:solidFill>
              </a:rPr>
              <a:t>Interface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691640" y="2779776"/>
            <a:ext cx="1234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SPI · 5 Register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02920" y="3182112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18DA6"/>
                </a:solidFill>
              </a:rPr>
              <a:t>Schutz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691640" y="3182112"/>
            <a:ext cx="1234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OCP · VDS · Temp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02920" y="3584448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18DA6"/>
                </a:solidFill>
              </a:rPr>
              <a:t>CSA Gain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691640" y="3584448"/>
            <a:ext cx="1234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10× · LS-Shunt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02920" y="3986784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18DA6"/>
                </a:solidFill>
              </a:rPr>
              <a:t>nFAULT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691640" y="3986784"/>
            <a:ext cx="1234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aktiv LOW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246120" y="1408176"/>
            <a:ext cx="3520440" cy="2194560"/>
          </a:xfrm>
          <a:prstGeom prst="rect">
            <a:avLst/>
          </a:prstGeom>
          <a:solidFill>
            <a:srgbClr val="0B1927"/>
          </a:solidFill>
          <a:ln w="12700">
            <a:solidFill>
              <a:srgbClr val="F4A225"/>
            </a:solidFill>
            <a:prstDash val="solid"/>
          </a:ln>
          <a:effectLst>
            <a:outerShdw sx="100000" sy="100000" kx="0" ky="0" algn="bl" rotWithShape="0" blurRad="114300" dist="25400" dir="8100000">
              <a:srgbClr val="000000">
                <a:alpha val="2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246120" y="1408176"/>
            <a:ext cx="45720" cy="2194560"/>
          </a:xfrm>
          <a:prstGeom prst="rect">
            <a:avLst/>
          </a:prstGeom>
          <a:solidFill>
            <a:srgbClr val="F4A225"/>
          </a:solidFill>
          <a:ln w="12700">
            <a:solidFill>
              <a:srgbClr val="F4A22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401568" y="1490472"/>
            <a:ext cx="3200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A225"/>
                </a:solidFill>
              </a:rPr>
              <a:t>6-Step Kommutierung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3328416" y="1901952"/>
            <a:ext cx="4754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3803904" y="1901952"/>
            <a:ext cx="4206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618DA6"/>
                </a:solidFill>
              </a:rPr>
              <a:t>INH_A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4224528" y="1901952"/>
            <a:ext cx="4206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618DA6"/>
                </a:solidFill>
              </a:rPr>
              <a:t>INL_A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4645152" y="1901952"/>
            <a:ext cx="4206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618DA6"/>
                </a:solidFill>
              </a:rPr>
              <a:t>INH_B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5065776" y="1901952"/>
            <a:ext cx="4206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618DA6"/>
                </a:solidFill>
              </a:rPr>
              <a:t>INL_B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5486400" y="1901952"/>
            <a:ext cx="4206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618DA6"/>
                </a:solidFill>
              </a:rPr>
              <a:t>INH_C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5907024" y="1901952"/>
            <a:ext cx="4206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618DA6"/>
                </a:solidFill>
              </a:rPr>
              <a:t>INL_C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6327648" y="1901952"/>
            <a:ext cx="4389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618DA6"/>
                </a:solidFill>
              </a:rPr>
              <a:t>Ø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3328416" y="2148840"/>
            <a:ext cx="47548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18DA6"/>
                </a:solidFill>
              </a:rPr>
              <a:t>0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3803904" y="2148840"/>
            <a:ext cx="42062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4A22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PWM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4224528" y="2148840"/>
            <a:ext cx="42062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E6394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4645152" y="2148840"/>
            <a:ext cx="42062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E6394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5065776" y="2148840"/>
            <a:ext cx="42062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4A22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PWM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5486400" y="2148840"/>
            <a:ext cx="42062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A32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—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5907024" y="2148840"/>
            <a:ext cx="42062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A32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—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6327648" y="2148840"/>
            <a:ext cx="43891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2EC4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A+B−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3328416" y="2382012"/>
            <a:ext cx="47548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18DA6"/>
                </a:solidFill>
              </a:rPr>
              <a:t>1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3803904" y="2382012"/>
            <a:ext cx="42062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4A22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PWM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4224528" y="2382012"/>
            <a:ext cx="42062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E6394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4645152" y="2382012"/>
            <a:ext cx="42062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A32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—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5065776" y="2382012"/>
            <a:ext cx="42062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A32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—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5486400" y="2382012"/>
            <a:ext cx="42062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E6394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5907024" y="2382012"/>
            <a:ext cx="42062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4A22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PWM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6327648" y="2382012"/>
            <a:ext cx="43891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2EC4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A+C−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3328416" y="2615184"/>
            <a:ext cx="47548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18DA6"/>
                </a:solidFill>
              </a:rPr>
              <a:t>2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3803904" y="2615184"/>
            <a:ext cx="42062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A32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—</a:t>
            </a:r>
            <a:endParaRPr lang="en-US" sz="800" dirty="0"/>
          </a:p>
        </p:txBody>
      </p:sp>
      <p:sp>
        <p:nvSpPr>
          <p:cNvPr id="50" name="Text 48"/>
          <p:cNvSpPr/>
          <p:nvPr/>
        </p:nvSpPr>
        <p:spPr>
          <a:xfrm>
            <a:off x="4224528" y="2615184"/>
            <a:ext cx="42062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A32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—</a:t>
            </a:r>
            <a:endParaRPr lang="en-US" sz="800" dirty="0"/>
          </a:p>
        </p:txBody>
      </p:sp>
      <p:sp>
        <p:nvSpPr>
          <p:cNvPr id="51" name="Text 49"/>
          <p:cNvSpPr/>
          <p:nvPr/>
        </p:nvSpPr>
        <p:spPr>
          <a:xfrm>
            <a:off x="4645152" y="2615184"/>
            <a:ext cx="42062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4A22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PWM</a:t>
            </a:r>
            <a:endParaRPr lang="en-US" sz="800" dirty="0"/>
          </a:p>
        </p:txBody>
      </p:sp>
      <p:sp>
        <p:nvSpPr>
          <p:cNvPr id="52" name="Text 50"/>
          <p:cNvSpPr/>
          <p:nvPr/>
        </p:nvSpPr>
        <p:spPr>
          <a:xfrm>
            <a:off x="5065776" y="2615184"/>
            <a:ext cx="42062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E6394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</a:t>
            </a:r>
            <a:endParaRPr lang="en-US" sz="800" dirty="0"/>
          </a:p>
        </p:txBody>
      </p:sp>
      <p:sp>
        <p:nvSpPr>
          <p:cNvPr id="53" name="Text 51"/>
          <p:cNvSpPr/>
          <p:nvPr/>
        </p:nvSpPr>
        <p:spPr>
          <a:xfrm>
            <a:off x="5486400" y="2615184"/>
            <a:ext cx="42062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E6394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</a:t>
            </a:r>
            <a:endParaRPr lang="en-US" sz="800" dirty="0"/>
          </a:p>
        </p:txBody>
      </p:sp>
      <p:sp>
        <p:nvSpPr>
          <p:cNvPr id="54" name="Text 52"/>
          <p:cNvSpPr/>
          <p:nvPr/>
        </p:nvSpPr>
        <p:spPr>
          <a:xfrm>
            <a:off x="5907024" y="2615184"/>
            <a:ext cx="42062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4A22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PWM</a:t>
            </a:r>
            <a:endParaRPr lang="en-US" sz="800" dirty="0"/>
          </a:p>
        </p:txBody>
      </p:sp>
      <p:sp>
        <p:nvSpPr>
          <p:cNvPr id="55" name="Text 53"/>
          <p:cNvSpPr/>
          <p:nvPr/>
        </p:nvSpPr>
        <p:spPr>
          <a:xfrm>
            <a:off x="6327648" y="2615184"/>
            <a:ext cx="43891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2EC4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B+C−</a:t>
            </a:r>
            <a:endParaRPr lang="en-US" sz="800" dirty="0"/>
          </a:p>
        </p:txBody>
      </p:sp>
      <p:sp>
        <p:nvSpPr>
          <p:cNvPr id="56" name="Text 54"/>
          <p:cNvSpPr/>
          <p:nvPr/>
        </p:nvSpPr>
        <p:spPr>
          <a:xfrm>
            <a:off x="3328416" y="2848356"/>
            <a:ext cx="47548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18DA6"/>
                </a:solidFill>
              </a:rPr>
              <a:t>3</a:t>
            </a:r>
            <a:endParaRPr lang="en-US" sz="900" dirty="0"/>
          </a:p>
        </p:txBody>
      </p:sp>
      <p:sp>
        <p:nvSpPr>
          <p:cNvPr id="57" name="Text 55"/>
          <p:cNvSpPr/>
          <p:nvPr/>
        </p:nvSpPr>
        <p:spPr>
          <a:xfrm>
            <a:off x="3803904" y="2848356"/>
            <a:ext cx="42062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E6394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</a:t>
            </a:r>
            <a:endParaRPr lang="en-US" sz="800" dirty="0"/>
          </a:p>
        </p:txBody>
      </p:sp>
      <p:sp>
        <p:nvSpPr>
          <p:cNvPr id="58" name="Text 56"/>
          <p:cNvSpPr/>
          <p:nvPr/>
        </p:nvSpPr>
        <p:spPr>
          <a:xfrm>
            <a:off x="4224528" y="2848356"/>
            <a:ext cx="42062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4A22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PWM</a:t>
            </a:r>
            <a:endParaRPr lang="en-US" sz="800" dirty="0"/>
          </a:p>
        </p:txBody>
      </p:sp>
      <p:sp>
        <p:nvSpPr>
          <p:cNvPr id="59" name="Text 57"/>
          <p:cNvSpPr/>
          <p:nvPr/>
        </p:nvSpPr>
        <p:spPr>
          <a:xfrm>
            <a:off x="4645152" y="2848356"/>
            <a:ext cx="42062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4A22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PWM</a:t>
            </a:r>
            <a:endParaRPr lang="en-US" sz="800" dirty="0"/>
          </a:p>
        </p:txBody>
      </p:sp>
      <p:sp>
        <p:nvSpPr>
          <p:cNvPr id="60" name="Text 58"/>
          <p:cNvSpPr/>
          <p:nvPr/>
        </p:nvSpPr>
        <p:spPr>
          <a:xfrm>
            <a:off x="5065776" y="2848356"/>
            <a:ext cx="42062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E6394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</a:t>
            </a:r>
            <a:endParaRPr lang="en-US" sz="800" dirty="0"/>
          </a:p>
        </p:txBody>
      </p:sp>
      <p:sp>
        <p:nvSpPr>
          <p:cNvPr id="61" name="Text 59"/>
          <p:cNvSpPr/>
          <p:nvPr/>
        </p:nvSpPr>
        <p:spPr>
          <a:xfrm>
            <a:off x="5486400" y="2848356"/>
            <a:ext cx="42062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A32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—</a:t>
            </a:r>
            <a:endParaRPr lang="en-US" sz="800" dirty="0"/>
          </a:p>
        </p:txBody>
      </p:sp>
      <p:sp>
        <p:nvSpPr>
          <p:cNvPr id="62" name="Text 60"/>
          <p:cNvSpPr/>
          <p:nvPr/>
        </p:nvSpPr>
        <p:spPr>
          <a:xfrm>
            <a:off x="5907024" y="2848356"/>
            <a:ext cx="42062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A32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—</a:t>
            </a:r>
            <a:endParaRPr lang="en-US" sz="800" dirty="0"/>
          </a:p>
        </p:txBody>
      </p:sp>
      <p:sp>
        <p:nvSpPr>
          <p:cNvPr id="63" name="Text 61"/>
          <p:cNvSpPr/>
          <p:nvPr/>
        </p:nvSpPr>
        <p:spPr>
          <a:xfrm>
            <a:off x="6327648" y="2848356"/>
            <a:ext cx="43891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2EC4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B+A−</a:t>
            </a:r>
            <a:endParaRPr lang="en-US" sz="800" dirty="0"/>
          </a:p>
        </p:txBody>
      </p:sp>
      <p:sp>
        <p:nvSpPr>
          <p:cNvPr id="64" name="Text 62"/>
          <p:cNvSpPr/>
          <p:nvPr/>
        </p:nvSpPr>
        <p:spPr>
          <a:xfrm>
            <a:off x="3328416" y="3081528"/>
            <a:ext cx="47548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18DA6"/>
                </a:solidFill>
              </a:rPr>
              <a:t>4</a:t>
            </a:r>
            <a:endParaRPr lang="en-US" sz="900" dirty="0"/>
          </a:p>
        </p:txBody>
      </p:sp>
      <p:sp>
        <p:nvSpPr>
          <p:cNvPr id="65" name="Text 63"/>
          <p:cNvSpPr/>
          <p:nvPr/>
        </p:nvSpPr>
        <p:spPr>
          <a:xfrm>
            <a:off x="3803904" y="3081528"/>
            <a:ext cx="42062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E6394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</a:t>
            </a:r>
            <a:endParaRPr lang="en-US" sz="800" dirty="0"/>
          </a:p>
        </p:txBody>
      </p:sp>
      <p:sp>
        <p:nvSpPr>
          <p:cNvPr id="66" name="Text 64"/>
          <p:cNvSpPr/>
          <p:nvPr/>
        </p:nvSpPr>
        <p:spPr>
          <a:xfrm>
            <a:off x="4224528" y="3081528"/>
            <a:ext cx="42062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4A22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PWM</a:t>
            </a:r>
            <a:endParaRPr lang="en-US" sz="800" dirty="0"/>
          </a:p>
        </p:txBody>
      </p:sp>
      <p:sp>
        <p:nvSpPr>
          <p:cNvPr id="67" name="Text 65"/>
          <p:cNvSpPr/>
          <p:nvPr/>
        </p:nvSpPr>
        <p:spPr>
          <a:xfrm>
            <a:off x="4645152" y="3081528"/>
            <a:ext cx="42062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A32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—</a:t>
            </a:r>
            <a:endParaRPr lang="en-US" sz="800" dirty="0"/>
          </a:p>
        </p:txBody>
      </p:sp>
      <p:sp>
        <p:nvSpPr>
          <p:cNvPr id="68" name="Text 66"/>
          <p:cNvSpPr/>
          <p:nvPr/>
        </p:nvSpPr>
        <p:spPr>
          <a:xfrm>
            <a:off x="5065776" y="3081528"/>
            <a:ext cx="42062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A32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—</a:t>
            </a:r>
            <a:endParaRPr lang="en-US" sz="800" dirty="0"/>
          </a:p>
        </p:txBody>
      </p:sp>
      <p:sp>
        <p:nvSpPr>
          <p:cNvPr id="69" name="Text 67"/>
          <p:cNvSpPr/>
          <p:nvPr/>
        </p:nvSpPr>
        <p:spPr>
          <a:xfrm>
            <a:off x="5486400" y="3081528"/>
            <a:ext cx="42062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4A22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PWM</a:t>
            </a:r>
            <a:endParaRPr lang="en-US" sz="800" dirty="0"/>
          </a:p>
        </p:txBody>
      </p:sp>
      <p:sp>
        <p:nvSpPr>
          <p:cNvPr id="70" name="Text 68"/>
          <p:cNvSpPr/>
          <p:nvPr/>
        </p:nvSpPr>
        <p:spPr>
          <a:xfrm>
            <a:off x="5907024" y="3081528"/>
            <a:ext cx="42062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E6394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</a:t>
            </a:r>
            <a:endParaRPr lang="en-US" sz="800" dirty="0"/>
          </a:p>
        </p:txBody>
      </p:sp>
      <p:sp>
        <p:nvSpPr>
          <p:cNvPr id="71" name="Text 69"/>
          <p:cNvSpPr/>
          <p:nvPr/>
        </p:nvSpPr>
        <p:spPr>
          <a:xfrm>
            <a:off x="6327648" y="3081528"/>
            <a:ext cx="43891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2EC4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C+A−</a:t>
            </a:r>
            <a:endParaRPr lang="en-US" sz="800" dirty="0"/>
          </a:p>
        </p:txBody>
      </p:sp>
      <p:sp>
        <p:nvSpPr>
          <p:cNvPr id="72" name="Text 70"/>
          <p:cNvSpPr/>
          <p:nvPr/>
        </p:nvSpPr>
        <p:spPr>
          <a:xfrm>
            <a:off x="3328416" y="3314700"/>
            <a:ext cx="47548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18DA6"/>
                </a:solidFill>
              </a:rPr>
              <a:t>5</a:t>
            </a:r>
            <a:endParaRPr lang="en-US" sz="900" dirty="0"/>
          </a:p>
        </p:txBody>
      </p:sp>
      <p:sp>
        <p:nvSpPr>
          <p:cNvPr id="73" name="Text 71"/>
          <p:cNvSpPr/>
          <p:nvPr/>
        </p:nvSpPr>
        <p:spPr>
          <a:xfrm>
            <a:off x="3803904" y="3314700"/>
            <a:ext cx="42062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A32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—</a:t>
            </a:r>
            <a:endParaRPr lang="en-US" sz="800" dirty="0"/>
          </a:p>
        </p:txBody>
      </p:sp>
      <p:sp>
        <p:nvSpPr>
          <p:cNvPr id="74" name="Text 72"/>
          <p:cNvSpPr/>
          <p:nvPr/>
        </p:nvSpPr>
        <p:spPr>
          <a:xfrm>
            <a:off x="4224528" y="3314700"/>
            <a:ext cx="42062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A32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—</a:t>
            </a:r>
            <a:endParaRPr lang="en-US" sz="800" dirty="0"/>
          </a:p>
        </p:txBody>
      </p:sp>
      <p:sp>
        <p:nvSpPr>
          <p:cNvPr id="75" name="Text 73"/>
          <p:cNvSpPr/>
          <p:nvPr/>
        </p:nvSpPr>
        <p:spPr>
          <a:xfrm>
            <a:off x="4645152" y="3314700"/>
            <a:ext cx="42062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E6394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</a:t>
            </a:r>
            <a:endParaRPr lang="en-US" sz="800" dirty="0"/>
          </a:p>
        </p:txBody>
      </p:sp>
      <p:sp>
        <p:nvSpPr>
          <p:cNvPr id="76" name="Text 74"/>
          <p:cNvSpPr/>
          <p:nvPr/>
        </p:nvSpPr>
        <p:spPr>
          <a:xfrm>
            <a:off x="5065776" y="3314700"/>
            <a:ext cx="42062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4A22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PWM</a:t>
            </a:r>
            <a:endParaRPr lang="en-US" sz="800" dirty="0"/>
          </a:p>
        </p:txBody>
      </p:sp>
      <p:sp>
        <p:nvSpPr>
          <p:cNvPr id="77" name="Text 75"/>
          <p:cNvSpPr/>
          <p:nvPr/>
        </p:nvSpPr>
        <p:spPr>
          <a:xfrm>
            <a:off x="5486400" y="3314700"/>
            <a:ext cx="42062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4A22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PWM</a:t>
            </a:r>
            <a:endParaRPr lang="en-US" sz="800" dirty="0"/>
          </a:p>
        </p:txBody>
      </p:sp>
      <p:sp>
        <p:nvSpPr>
          <p:cNvPr id="78" name="Text 76"/>
          <p:cNvSpPr/>
          <p:nvPr/>
        </p:nvSpPr>
        <p:spPr>
          <a:xfrm>
            <a:off x="5907024" y="3314700"/>
            <a:ext cx="42062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E6394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</a:t>
            </a:r>
            <a:endParaRPr lang="en-US" sz="800" dirty="0"/>
          </a:p>
        </p:txBody>
      </p:sp>
      <p:sp>
        <p:nvSpPr>
          <p:cNvPr id="79" name="Text 77"/>
          <p:cNvSpPr/>
          <p:nvPr/>
        </p:nvSpPr>
        <p:spPr>
          <a:xfrm>
            <a:off x="6327648" y="3314700"/>
            <a:ext cx="43891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2EC4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C+B−</a:t>
            </a:r>
            <a:endParaRPr lang="en-US" sz="800" dirty="0"/>
          </a:p>
        </p:txBody>
      </p:sp>
      <p:sp>
        <p:nvSpPr>
          <p:cNvPr id="80" name="Shape 78"/>
          <p:cNvSpPr/>
          <p:nvPr/>
        </p:nvSpPr>
        <p:spPr>
          <a:xfrm>
            <a:off x="6912864" y="1408176"/>
            <a:ext cx="1883664" cy="1591056"/>
          </a:xfrm>
          <a:prstGeom prst="rect">
            <a:avLst/>
          </a:prstGeom>
          <a:solidFill>
            <a:srgbClr val="0B1927"/>
          </a:solidFill>
          <a:ln w="12700">
            <a:solidFill>
              <a:srgbClr val="2EC4B6"/>
            </a:solidFill>
            <a:prstDash val="solid"/>
          </a:ln>
          <a:effectLst>
            <a:outerShdw sx="100000" sy="100000" kx="0" ky="0" algn="bl" rotWithShape="0" blurRad="114300" dist="25400" dir="8100000">
              <a:srgbClr val="000000">
                <a:alpha val="20000"/>
              </a:srgbClr>
            </a:outerShdw>
          </a:effectLst>
        </p:spPr>
      </p:sp>
      <p:sp>
        <p:nvSpPr>
          <p:cNvPr id="81" name="Shape 79"/>
          <p:cNvSpPr/>
          <p:nvPr/>
        </p:nvSpPr>
        <p:spPr>
          <a:xfrm>
            <a:off x="6912864" y="1408176"/>
            <a:ext cx="45720" cy="1591056"/>
          </a:xfrm>
          <a:prstGeom prst="rect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7059168" y="1490472"/>
            <a:ext cx="15910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C4B6"/>
                </a:solidFill>
              </a:rPr>
              <a:t>Soft-Start</a:t>
            </a:r>
            <a:endParaRPr lang="en-US" sz="1200" dirty="0"/>
          </a:p>
        </p:txBody>
      </p:sp>
      <p:sp>
        <p:nvSpPr>
          <p:cNvPr id="83" name="Text 81"/>
          <p:cNvSpPr/>
          <p:nvPr/>
        </p:nvSpPr>
        <p:spPr>
          <a:xfrm>
            <a:off x="7059168" y="1828800"/>
            <a:ext cx="15910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EC4B6"/>
                </a:solidFill>
              </a:rPr>
              <a:t>▸  </a:t>
            </a:r>
            <a:pPr indent="0" marL="0">
              <a:buNone/>
            </a:pPr>
            <a:r>
              <a:rPr lang="en-US" sz="950" dirty="0">
                <a:solidFill>
                  <a:srgbClr val="C4E2F0"/>
                </a:solidFill>
              </a:rPr>
              <a:t>Duty-Rampe</a:t>
            </a:r>
            <a:endParaRPr lang="en-US" sz="950" dirty="0"/>
          </a:p>
        </p:txBody>
      </p:sp>
      <p:sp>
        <p:nvSpPr>
          <p:cNvPr id="84" name="Text 82"/>
          <p:cNvSpPr/>
          <p:nvPr/>
        </p:nvSpPr>
        <p:spPr>
          <a:xfrm>
            <a:off x="7059168" y="2176272"/>
            <a:ext cx="15910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EC4B6"/>
                </a:solidFill>
              </a:rPr>
              <a:t>▸  </a:t>
            </a:r>
            <a:pPr indent="0" marL="0">
              <a:buNone/>
            </a:pPr>
            <a:r>
              <a:rPr lang="en-US" sz="950" dirty="0">
                <a:solidFill>
                  <a:srgbClr val="C4E2F0"/>
                </a:solidFill>
              </a:rPr>
              <a:t>50 ms → 5 ms</a:t>
            </a:r>
            <a:endParaRPr lang="en-US" sz="950" dirty="0"/>
          </a:p>
        </p:txBody>
      </p:sp>
      <p:sp>
        <p:nvSpPr>
          <p:cNvPr id="85" name="Text 83"/>
          <p:cNvSpPr/>
          <p:nvPr/>
        </p:nvSpPr>
        <p:spPr>
          <a:xfrm>
            <a:off x="7059168" y="2523744"/>
            <a:ext cx="15910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EC4B6"/>
                </a:solidFill>
              </a:rPr>
              <a:t>▸  </a:t>
            </a:r>
            <a:pPr indent="0" marL="0">
              <a:buNone/>
            </a:pPr>
            <a:r>
              <a:rPr lang="en-US" sz="950" dirty="0">
                <a:solidFill>
                  <a:srgbClr val="C4E2F0"/>
                </a:solidFill>
              </a:rPr>
              <a:t>Reset bei Richtung</a:t>
            </a:r>
            <a:endParaRPr lang="en-US" sz="950" dirty="0"/>
          </a:p>
        </p:txBody>
      </p:sp>
      <p:sp>
        <p:nvSpPr>
          <p:cNvPr id="86" name="Shape 84"/>
          <p:cNvSpPr/>
          <p:nvPr/>
        </p:nvSpPr>
        <p:spPr>
          <a:xfrm>
            <a:off x="6912864" y="3127248"/>
            <a:ext cx="1883664" cy="1755648"/>
          </a:xfrm>
          <a:prstGeom prst="rect">
            <a:avLst/>
          </a:prstGeom>
          <a:solidFill>
            <a:srgbClr val="0B1927"/>
          </a:solidFill>
          <a:ln w="12700">
            <a:solidFill>
              <a:srgbClr val="E63946"/>
            </a:solidFill>
            <a:prstDash val="solid"/>
          </a:ln>
          <a:effectLst>
            <a:outerShdw sx="100000" sy="100000" kx="0" ky="0" algn="bl" rotWithShape="0" blurRad="114300" dist="25400" dir="8100000">
              <a:srgbClr val="000000">
                <a:alpha val="20000"/>
              </a:srgbClr>
            </a:outerShdw>
          </a:effectLst>
        </p:spPr>
      </p:sp>
      <p:sp>
        <p:nvSpPr>
          <p:cNvPr id="87" name="Shape 85"/>
          <p:cNvSpPr/>
          <p:nvPr/>
        </p:nvSpPr>
        <p:spPr>
          <a:xfrm>
            <a:off x="6912864" y="3127248"/>
            <a:ext cx="45720" cy="1755648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7059168" y="3209544"/>
            <a:ext cx="15910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63946"/>
                </a:solidFill>
              </a:rPr>
              <a:t>Fault</a:t>
            </a:r>
            <a:endParaRPr lang="en-US" sz="1200" dirty="0"/>
          </a:p>
        </p:txBody>
      </p:sp>
      <p:sp>
        <p:nvSpPr>
          <p:cNvPr id="89" name="Text 87"/>
          <p:cNvSpPr/>
          <p:nvPr/>
        </p:nvSpPr>
        <p:spPr>
          <a:xfrm>
            <a:off x="7059168" y="3547872"/>
            <a:ext cx="15910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63946"/>
                </a:solidFill>
              </a:rPr>
              <a:t>▸  </a:t>
            </a:r>
            <a:pPr indent="0" marL="0">
              <a:buNone/>
            </a:pPr>
            <a:r>
              <a:rPr lang="en-US" sz="950" dirty="0">
                <a:solidFill>
                  <a:srgbClr val="C4E2F0"/>
                </a:solidFill>
              </a:rPr>
              <a:t>nFAULT → off</a:t>
            </a:r>
            <a:endParaRPr lang="en-US" sz="950" dirty="0"/>
          </a:p>
        </p:txBody>
      </p:sp>
      <p:sp>
        <p:nvSpPr>
          <p:cNvPr id="90" name="Text 88"/>
          <p:cNvSpPr/>
          <p:nvPr/>
        </p:nvSpPr>
        <p:spPr>
          <a:xfrm>
            <a:off x="7059168" y="3867912"/>
            <a:ext cx="15910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63946"/>
                </a:solidFill>
              </a:rPr>
              <a:t>▸  </a:t>
            </a:r>
            <a:pPr indent="0" marL="0">
              <a:buNone/>
            </a:pPr>
            <a:r>
              <a:rPr lang="en-US" sz="950" dirty="0">
                <a:solidFill>
                  <a:srgbClr val="C4E2F0"/>
                </a:solidFill>
              </a:rPr>
              <a:t>500 ms Pause</a:t>
            </a:r>
            <a:endParaRPr lang="en-US" sz="950" dirty="0"/>
          </a:p>
        </p:txBody>
      </p:sp>
      <p:sp>
        <p:nvSpPr>
          <p:cNvPr id="91" name="Text 89"/>
          <p:cNvSpPr/>
          <p:nvPr/>
        </p:nvSpPr>
        <p:spPr>
          <a:xfrm>
            <a:off x="7059168" y="4187952"/>
            <a:ext cx="15910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63946"/>
                </a:solidFill>
              </a:rPr>
              <a:t>▸  </a:t>
            </a:r>
            <a:pPr indent="0" marL="0">
              <a:buNone/>
            </a:pPr>
            <a:r>
              <a:rPr lang="en-US" sz="950" dirty="0">
                <a:solidFill>
                  <a:srgbClr val="C4E2F0"/>
                </a:solidFill>
              </a:rPr>
              <a:t>Register reset</a:t>
            </a:r>
            <a:endParaRPr lang="en-US" sz="950" dirty="0"/>
          </a:p>
        </p:txBody>
      </p:sp>
      <p:sp>
        <p:nvSpPr>
          <p:cNvPr id="92" name="Text 90"/>
          <p:cNvSpPr/>
          <p:nvPr/>
        </p:nvSpPr>
        <p:spPr>
          <a:xfrm>
            <a:off x="7059168" y="4507992"/>
            <a:ext cx="15910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63946"/>
                </a:solidFill>
              </a:rPr>
              <a:t>▸  </a:t>
            </a:r>
            <a:pPr indent="0" marL="0">
              <a:buNone/>
            </a:pPr>
            <a:r>
              <a:rPr lang="en-US" sz="950" dirty="0">
                <a:solidFill>
                  <a:srgbClr val="C4E2F0"/>
                </a:solidFill>
              </a:rPr>
              <a:t>SAFE_MODE</a:t>
            </a:r>
            <a:endParaRPr lang="en-US" sz="950" dirty="0"/>
          </a:p>
        </p:txBody>
      </p:sp>
      <p:sp>
        <p:nvSpPr>
          <p:cNvPr id="93" name="Shape 91"/>
          <p:cNvSpPr/>
          <p:nvPr/>
        </p:nvSpPr>
        <p:spPr>
          <a:xfrm>
            <a:off x="3246120" y="3621024"/>
            <a:ext cx="3520440" cy="1261872"/>
          </a:xfrm>
          <a:prstGeom prst="rect">
            <a:avLst/>
          </a:prstGeom>
          <a:solidFill>
            <a:srgbClr val="0B1927"/>
          </a:solidFill>
          <a:ln w="12700">
            <a:solidFill>
              <a:srgbClr val="1A3249"/>
            </a:solidFill>
            <a:prstDash val="solid"/>
          </a:ln>
        </p:spPr>
      </p:sp>
      <p:sp>
        <p:nvSpPr>
          <p:cNvPr id="94" name="Text 92"/>
          <p:cNvSpPr/>
          <p:nvPr/>
        </p:nvSpPr>
        <p:spPr>
          <a:xfrm>
            <a:off x="3383280" y="3694176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4E2F0"/>
                </a:solidFill>
              </a:rPr>
              <a:t>Motorphasen-Zustände:</a:t>
            </a:r>
            <a:endParaRPr lang="en-US" sz="1100" dirty="0"/>
          </a:p>
        </p:txBody>
      </p:sp>
      <p:sp>
        <p:nvSpPr>
          <p:cNvPr id="95" name="Shape 93"/>
          <p:cNvSpPr/>
          <p:nvPr/>
        </p:nvSpPr>
        <p:spPr>
          <a:xfrm>
            <a:off x="3383280" y="3995928"/>
            <a:ext cx="384048" cy="219456"/>
          </a:xfrm>
          <a:prstGeom prst="rect">
            <a:avLst/>
          </a:prstGeom>
          <a:solidFill>
            <a:srgbClr val="1A3248"/>
          </a:solidFill>
          <a:ln w="12700">
            <a:solidFill>
              <a:srgbClr val="F4A225"/>
            </a:solidFill>
            <a:prstDash val="solid"/>
          </a:ln>
        </p:spPr>
      </p:sp>
      <p:sp>
        <p:nvSpPr>
          <p:cNvPr id="96" name="Text 94"/>
          <p:cNvSpPr/>
          <p:nvPr/>
        </p:nvSpPr>
        <p:spPr>
          <a:xfrm>
            <a:off x="3383280" y="3995928"/>
            <a:ext cx="3840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4A22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PWM</a:t>
            </a:r>
            <a:endParaRPr lang="en-US" sz="900" dirty="0"/>
          </a:p>
        </p:txBody>
      </p:sp>
      <p:sp>
        <p:nvSpPr>
          <p:cNvPr id="97" name="Text 95"/>
          <p:cNvSpPr/>
          <p:nvPr/>
        </p:nvSpPr>
        <p:spPr>
          <a:xfrm>
            <a:off x="3822192" y="4005072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18DA6"/>
                </a:solidFill>
              </a:rPr>
              <a:t>High-Side aktiv  (moduliert)</a:t>
            </a:r>
            <a:endParaRPr lang="en-US" sz="1000" dirty="0"/>
          </a:p>
        </p:txBody>
      </p:sp>
      <p:sp>
        <p:nvSpPr>
          <p:cNvPr id="98" name="Shape 96"/>
          <p:cNvSpPr/>
          <p:nvPr/>
        </p:nvSpPr>
        <p:spPr>
          <a:xfrm>
            <a:off x="3383280" y="4261104"/>
            <a:ext cx="384048" cy="219456"/>
          </a:xfrm>
          <a:prstGeom prst="rect">
            <a:avLst/>
          </a:prstGeom>
          <a:solidFill>
            <a:srgbClr val="1A3248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99" name="Text 97"/>
          <p:cNvSpPr/>
          <p:nvPr/>
        </p:nvSpPr>
        <p:spPr>
          <a:xfrm>
            <a:off x="3383280" y="4261104"/>
            <a:ext cx="3840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6394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</a:t>
            </a:r>
            <a:endParaRPr lang="en-US" sz="900" dirty="0"/>
          </a:p>
        </p:txBody>
      </p:sp>
      <p:sp>
        <p:nvSpPr>
          <p:cNvPr id="100" name="Text 98"/>
          <p:cNvSpPr/>
          <p:nvPr/>
        </p:nvSpPr>
        <p:spPr>
          <a:xfrm>
            <a:off x="3822192" y="4270248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18DA6"/>
                </a:solidFill>
              </a:rPr>
              <a:t>Low-Side aktiv  (LOW)</a:t>
            </a:r>
            <a:endParaRPr lang="en-US" sz="1000" dirty="0"/>
          </a:p>
        </p:txBody>
      </p:sp>
      <p:sp>
        <p:nvSpPr>
          <p:cNvPr id="101" name="Shape 99"/>
          <p:cNvSpPr/>
          <p:nvPr/>
        </p:nvSpPr>
        <p:spPr>
          <a:xfrm>
            <a:off x="3383280" y="4526280"/>
            <a:ext cx="384048" cy="219456"/>
          </a:xfrm>
          <a:prstGeom prst="rect">
            <a:avLst/>
          </a:prstGeom>
          <a:solidFill>
            <a:srgbClr val="1A3248"/>
          </a:solidFill>
          <a:ln w="12700">
            <a:solidFill>
              <a:srgbClr val="1A3249"/>
            </a:solidFill>
            <a:prstDash val="solid"/>
          </a:ln>
        </p:spPr>
      </p:sp>
      <p:sp>
        <p:nvSpPr>
          <p:cNvPr id="102" name="Text 100"/>
          <p:cNvSpPr/>
          <p:nvPr/>
        </p:nvSpPr>
        <p:spPr>
          <a:xfrm>
            <a:off x="3383280" y="4526280"/>
            <a:ext cx="3840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32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—</a:t>
            </a:r>
            <a:endParaRPr lang="en-US" sz="900" dirty="0"/>
          </a:p>
        </p:txBody>
      </p:sp>
      <p:sp>
        <p:nvSpPr>
          <p:cNvPr id="103" name="Text 101"/>
          <p:cNvSpPr/>
          <p:nvPr/>
        </p:nvSpPr>
        <p:spPr>
          <a:xfrm>
            <a:off x="3822192" y="4535424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18DA6"/>
                </a:solidFill>
              </a:rPr>
              <a:t>Float  (keine Ansteuerung)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710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5488" y="11887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500" kern="0" dirty="0">
                <a:solidFill>
                  <a:srgbClr val="00B4D8"/>
                </a:solidFill>
              </a:rPr>
              <a:t>TEIL 2 — FIRMWARE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75488" y="384048"/>
            <a:ext cx="8229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</a:rPr>
              <a:t>Netzwerk &amp; OTA-Updates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475488" y="1042416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18DA6"/>
                </a:solidFill>
              </a:rPr>
              <a:t>WiFi · WebSocket · GitHub FOTA · PlatformIO OTA Upload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47472" y="1408176"/>
            <a:ext cx="3977640" cy="3474720"/>
          </a:xfrm>
          <a:prstGeom prst="rect">
            <a:avLst/>
          </a:prstGeom>
          <a:solidFill>
            <a:srgbClr val="0B1927"/>
          </a:solidFill>
          <a:ln w="12700">
            <a:solidFill>
              <a:srgbClr val="0096C7"/>
            </a:solidFill>
            <a:prstDash val="solid"/>
          </a:ln>
          <a:effectLst>
            <a:outerShdw sx="100000" sy="100000" kx="0" ky="0" algn="bl" rotWithShape="0" blurRad="114300" dist="25400" dir="8100000">
              <a:srgbClr val="000000">
                <a:alpha val="2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47472" y="1408176"/>
            <a:ext cx="45720" cy="3474720"/>
          </a:xfrm>
          <a:prstGeom prst="rect">
            <a:avLst/>
          </a:prstGeom>
          <a:solidFill>
            <a:srgbClr val="0096C7"/>
          </a:solidFill>
          <a:ln w="12700">
            <a:solidFill>
              <a:srgbClr val="0096C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490472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96C7"/>
                </a:solidFill>
              </a:rPr>
              <a:t>Netzwerk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02920" y="1874520"/>
            <a:ext cx="3474720" cy="32004"/>
          </a:xfrm>
          <a:prstGeom prst="rect">
            <a:avLst/>
          </a:prstGeom>
          <a:solidFill>
            <a:srgbClr val="1A3249"/>
          </a:solidFill>
          <a:ln w="12700">
            <a:solidFill>
              <a:srgbClr val="1A324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199339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96C7"/>
                </a:solidFill>
              </a:rPr>
              <a:t>WiFi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502920" y="2249424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18DA6"/>
                </a:solidFill>
              </a:rPr>
              <a:t>SSID/Passwort in NVS · Auto-Reconnect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02920" y="256032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B4D8"/>
                </a:solidFill>
              </a:rPr>
              <a:t>WebSocket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502920" y="2816352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18DA6"/>
                </a:solidFill>
              </a:rPr>
              <a:t>esp_http_server Port 80 · Route /ws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02920" y="312724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4A225"/>
                </a:solidFill>
              </a:rPr>
              <a:t>UDP Discovery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502920" y="3383280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18DA6"/>
                </a:solidFill>
              </a:rPr>
              <a:t>Port 49352 · eigener Sub-Task Prio 4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02920" y="369417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618DA6"/>
                </a:solidFill>
              </a:rPr>
              <a:t>AP-Mode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502920" y="3950208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18DA6"/>
                </a:solidFill>
              </a:rPr>
              <a:t>Fallback wenn kein Netzwerk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02920" y="4261104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63946"/>
                </a:solidFill>
              </a:rPr>
              <a:t>Failsafe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502920" y="4517136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18DA6"/>
                </a:solidFill>
              </a:rPr>
              <a:t>500 ms kein Paket → Motor-Stopp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480560" y="1408176"/>
            <a:ext cx="4315968" cy="1645920"/>
          </a:xfrm>
          <a:prstGeom prst="rect">
            <a:avLst/>
          </a:prstGeom>
          <a:solidFill>
            <a:srgbClr val="0B1927"/>
          </a:solidFill>
          <a:ln w="12700">
            <a:solidFill>
              <a:srgbClr val="2EC4B6"/>
            </a:solidFill>
            <a:prstDash val="solid"/>
          </a:ln>
          <a:effectLst>
            <a:outerShdw sx="100000" sy="100000" kx="0" ky="0" algn="bl" rotWithShape="0" blurRad="114300" dist="25400" dir="8100000">
              <a:srgbClr val="000000">
                <a:alpha val="2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480560" y="1408176"/>
            <a:ext cx="45720" cy="1645920"/>
          </a:xfrm>
          <a:prstGeom prst="rect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645152" y="1490472"/>
            <a:ext cx="3977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C4B6"/>
                </a:solidFill>
              </a:rPr>
              <a:t>GitHub FOTA  — automatisch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645152" y="1865376"/>
            <a:ext cx="3977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EC4B6"/>
                </a:solidFill>
              </a:rPr>
              <a:t>▸  </a:t>
            </a:r>
            <a:pPr indent="0" marL="0">
              <a:buNone/>
            </a:pPr>
            <a:r>
              <a:rPr lang="en-US" sz="1050" dirty="0">
                <a:solidFill>
                  <a:srgbClr val="C4E2F0"/>
                </a:solidFill>
              </a:rPr>
              <a:t>bg_task prüft GitHub Releases (alle 5 min)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4645152" y="2221992"/>
            <a:ext cx="3977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EC4B6"/>
                </a:solidFill>
              </a:rPr>
              <a:t>▸  </a:t>
            </a:r>
            <a:pPr indent="0" marL="0">
              <a:buNone/>
            </a:pPr>
            <a:r>
              <a:rPr lang="en-US" sz="1050" dirty="0">
                <a:solidFill>
                  <a:srgbClr val="C4E2F0"/>
                </a:solidFill>
              </a:rPr>
              <a:t>esp_https_ota → neuen Partition-Slot flashen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4645152" y="2578608"/>
            <a:ext cx="3977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EC4B6"/>
                </a:solidFill>
              </a:rPr>
              <a:t>▸  </a:t>
            </a:r>
            <a:pPr indent="0" marL="0">
              <a:buNone/>
            </a:pPr>
            <a:r>
              <a:rPr lang="en-US" sz="1050" dirty="0">
                <a:solidFill>
                  <a:srgbClr val="C4E2F0"/>
                </a:solidFill>
              </a:rPr>
              <a:t>Neustart · Auto-Rollback bei Fehler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480560" y="3182112"/>
            <a:ext cx="4315968" cy="1700784"/>
          </a:xfrm>
          <a:prstGeom prst="rect">
            <a:avLst/>
          </a:prstGeom>
          <a:solidFill>
            <a:srgbClr val="0B1927"/>
          </a:solidFill>
          <a:ln w="12700">
            <a:solidFill>
              <a:srgbClr val="0096C7"/>
            </a:solidFill>
            <a:prstDash val="solid"/>
          </a:ln>
          <a:effectLst>
            <a:outerShdw sx="100000" sy="100000" kx="0" ky="0" algn="bl" rotWithShape="0" blurRad="114300" dist="25400" dir="8100000">
              <a:srgbClr val="000000">
                <a:alpha val="2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480560" y="3182112"/>
            <a:ext cx="45720" cy="1700784"/>
          </a:xfrm>
          <a:prstGeom prst="rect">
            <a:avLst/>
          </a:prstGeom>
          <a:solidFill>
            <a:srgbClr val="0096C7"/>
          </a:solidFill>
          <a:ln w="12700">
            <a:solidFill>
              <a:srgbClr val="0096C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645152" y="3264408"/>
            <a:ext cx="3977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96C7"/>
                </a:solidFill>
              </a:rPr>
              <a:t>OTA Upload  — manuell (PlatformIO)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645152" y="3639312"/>
            <a:ext cx="3977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96C7"/>
                </a:solidFill>
              </a:rPr>
              <a:t>▸  </a:t>
            </a:r>
            <a:pPr indent="0" marL="0">
              <a:buNone/>
            </a:pPr>
            <a:r>
              <a:rPr lang="en-US" sz="1050" dirty="0">
                <a:solidFill>
                  <a:srgbClr val="C4E2F0"/>
                </a:solidFill>
              </a:rPr>
              <a:t>Upload-Ziel: esp-rc-car.local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4645152" y="3995928"/>
            <a:ext cx="3977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96C7"/>
                </a:solidFill>
              </a:rPr>
              <a:t>▸  </a:t>
            </a:r>
            <a:pPr indent="0" marL="0">
              <a:buNone/>
            </a:pPr>
            <a:r>
              <a:rPr lang="en-US" sz="1050" dirty="0">
                <a:solidFill>
                  <a:srgbClr val="C4E2F0"/>
                </a:solidFill>
              </a:rPr>
              <a:t>Passwort-gesichert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4645152" y="4352544"/>
            <a:ext cx="3977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96C7"/>
                </a:solidFill>
              </a:rPr>
              <a:t>▸  </a:t>
            </a:r>
            <a:pPr indent="0" marL="0">
              <a:buNone/>
            </a:pPr>
            <a:r>
              <a:rPr lang="en-US" sz="1050" dirty="0">
                <a:solidFill>
                  <a:srgbClr val="C4E2F0"/>
                </a:solidFill>
              </a:rPr>
              <a:t>Umgebung: espidf_ota (platformio.ini)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347472" y="4700016"/>
            <a:ext cx="8449056" cy="347472"/>
          </a:xfrm>
          <a:prstGeom prst="rect">
            <a:avLst/>
          </a:prstGeom>
          <a:solidFill>
            <a:srgbClr val="0B1927"/>
          </a:solidFill>
          <a:ln w="12700">
            <a:solidFill>
              <a:srgbClr val="1A3249"/>
            </a:solidFill>
            <a:prstDash val="solid"/>
          </a:ln>
          <a:effectLst>
            <a:outerShdw sx="100000" sy="100000" kx="0" ky="0" algn="bl" rotWithShape="0" blurRad="114300" dist="25400" dir="8100000">
              <a:srgbClr val="000000">
                <a:alpha val="20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347472" y="4700016"/>
            <a:ext cx="45720" cy="347472"/>
          </a:xfrm>
          <a:prstGeom prst="rect">
            <a:avLst/>
          </a:prstGeom>
          <a:solidFill>
            <a:srgbClr val="1A3249"/>
          </a:solidFill>
          <a:ln w="12700">
            <a:solidFill>
              <a:srgbClr val="1A3249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02920" y="4736592"/>
            <a:ext cx="813816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18DA6"/>
                </a:solidFill>
              </a:rPr>
              <a:t>NVS: SSID/Passwort · OTA-Intervall · Batterie-Schwellen · Servo-Gain · Failsafe-Zeit · max_throttle_pct …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710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5488" y="11887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500" kern="0" dirty="0">
                <a:solidFill>
                  <a:srgbClr val="00B4D8"/>
                </a:solidFill>
              </a:rPr>
              <a:t>TEIL 2 — MECHANIK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75488" y="384048"/>
            <a:ext cx="8229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</a:rPr>
              <a:t>Chassis &amp; Mechanik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475488" y="1042416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18DA6"/>
                </a:solidFill>
              </a:rPr>
              <a:t>3D-Druck · Blender · PLA · S0009M Lenkservo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47472" y="1408176"/>
            <a:ext cx="3291840" cy="2011680"/>
          </a:xfrm>
          <a:prstGeom prst="rect">
            <a:avLst/>
          </a:prstGeom>
          <a:solidFill>
            <a:srgbClr val="0B1927"/>
          </a:solidFill>
          <a:ln w="12700">
            <a:solidFill>
              <a:srgbClr val="0096C7"/>
            </a:solidFill>
            <a:prstDash val="solid"/>
          </a:ln>
          <a:effectLst>
            <a:outerShdw sx="100000" sy="100000" kx="0" ky="0" algn="bl" rotWithShape="0" blurRad="114300" dist="25400" dir="8100000">
              <a:srgbClr val="000000">
                <a:alpha val="2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47472" y="1408176"/>
            <a:ext cx="45720" cy="2011680"/>
          </a:xfrm>
          <a:prstGeom prst="rect">
            <a:avLst/>
          </a:prstGeom>
          <a:solidFill>
            <a:srgbClr val="0096C7"/>
          </a:solidFill>
          <a:ln w="12700">
            <a:solidFill>
              <a:srgbClr val="0096C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490472"/>
            <a:ext cx="2971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96C7"/>
                </a:solidFill>
              </a:rPr>
              <a:t>3D-Druck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02920" y="1856232"/>
            <a:ext cx="2834640" cy="32004"/>
          </a:xfrm>
          <a:prstGeom prst="rect">
            <a:avLst/>
          </a:prstGeom>
          <a:solidFill>
            <a:srgbClr val="1A3249"/>
          </a:solidFill>
          <a:ln w="12700">
            <a:solidFill>
              <a:srgbClr val="1A324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1956816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18DA6"/>
                </a:solidFill>
              </a:rPr>
              <a:t>Hauptkörper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874520" y="1956816"/>
            <a:ext cx="1600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Chassi V8.stl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02920" y="2221992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18DA6"/>
                </a:solidFill>
              </a:rPr>
              <a:t>Verbinder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874520" y="2221992"/>
            <a:ext cx="1600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verbindung v1.stl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02920" y="2487168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18DA6"/>
                </a:solidFill>
              </a:rPr>
              <a:t>Software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74520" y="2487168"/>
            <a:ext cx="1600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Blender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02920" y="2752344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18DA6"/>
                </a:solidFill>
              </a:rPr>
              <a:t>Material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874520" y="2752344"/>
            <a:ext cx="1600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PLA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02920" y="3017520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18DA6"/>
                </a:solidFill>
              </a:rPr>
              <a:t>Iterationen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874520" y="3017520"/>
            <a:ext cx="1600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V1 → V8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47472" y="3547872"/>
            <a:ext cx="3291840" cy="1335024"/>
          </a:xfrm>
          <a:prstGeom prst="rect">
            <a:avLst/>
          </a:prstGeom>
          <a:solidFill>
            <a:srgbClr val="0B1927"/>
          </a:solidFill>
          <a:ln w="12700">
            <a:solidFill>
              <a:srgbClr val="00B4D8"/>
            </a:solidFill>
            <a:prstDash val="solid"/>
          </a:ln>
          <a:effectLst>
            <a:outerShdw sx="100000" sy="100000" kx="0" ky="0" algn="bl" rotWithShape="0" blurRad="114300" dist="25400" dir="8100000">
              <a:srgbClr val="000000">
                <a:alpha val="2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47472" y="3547872"/>
            <a:ext cx="45720" cy="133502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" y="3630168"/>
            <a:ext cx="2971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B4D8"/>
                </a:solidFill>
              </a:rPr>
              <a:t>Lenkservo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502920" y="3995928"/>
            <a:ext cx="2834640" cy="32004"/>
          </a:xfrm>
          <a:prstGeom prst="rect">
            <a:avLst/>
          </a:prstGeom>
          <a:solidFill>
            <a:srgbClr val="1A3249"/>
          </a:solidFill>
          <a:ln w="12700">
            <a:solidFill>
              <a:srgbClr val="1A324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2920" y="4096512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18DA6"/>
                </a:solidFill>
              </a:rPr>
              <a:t>Modell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1874520" y="4096512"/>
            <a:ext cx="1600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S0009M  9g Micro Servo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02920" y="435254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18DA6"/>
                </a:solidFill>
              </a:rPr>
              <a:t>Signal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1874520" y="4352544"/>
            <a:ext cx="1600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50 Hz · 1000–2000 µs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02920" y="4608576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18DA6"/>
                </a:solidFill>
              </a:rPr>
              <a:t>Filter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1874520" y="4608576"/>
            <a:ext cx="1600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IIR · Gain einstellbar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794760" y="1408176"/>
            <a:ext cx="5001768" cy="2286000"/>
          </a:xfrm>
          <a:prstGeom prst="rect">
            <a:avLst/>
          </a:prstGeom>
          <a:solidFill>
            <a:srgbClr val="091625"/>
          </a:solidFill>
          <a:ln w="19050">
            <a:solidFill>
              <a:srgbClr val="0096C7"/>
            </a:solidFill>
            <a:prstDash val="dash"/>
          </a:ln>
        </p:spPr>
      </p:sp>
      <p:sp>
        <p:nvSpPr>
          <p:cNvPr id="30" name="Text 28"/>
          <p:cNvSpPr/>
          <p:nvPr/>
        </p:nvSpPr>
        <p:spPr>
          <a:xfrm>
            <a:off x="3794760" y="1408176"/>
            <a:ext cx="5001768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A3248"/>
                </a:solidFill>
              </a:rPr>
              <a:t>[ FOTO / RENDER ]</a:t>
            </a:r>
            <a:endParaRPr lang="en-US" sz="2200" dirty="0"/>
          </a:p>
          <a:p>
            <a:pPr algn="ctr" indent="0" marL="0">
              <a:buNone/>
            </a:pPr>
            <a:r>
              <a:rPr lang="en-US" sz="2200" b="1" dirty="0">
                <a:solidFill>
                  <a:srgbClr val="1A3248"/>
                </a:solidFill>
              </a:rPr>
              <a:t>Chassi V8</a:t>
            </a:r>
            <a:endParaRPr lang="en-US" sz="2200" dirty="0"/>
          </a:p>
        </p:txBody>
      </p:sp>
      <p:sp>
        <p:nvSpPr>
          <p:cNvPr id="31" name="Shape 29"/>
          <p:cNvSpPr/>
          <p:nvPr/>
        </p:nvSpPr>
        <p:spPr>
          <a:xfrm>
            <a:off x="3794760" y="3822192"/>
            <a:ext cx="5001768" cy="1060704"/>
          </a:xfrm>
          <a:prstGeom prst="rect">
            <a:avLst/>
          </a:prstGeom>
          <a:solidFill>
            <a:srgbClr val="091625"/>
          </a:solidFill>
          <a:ln w="19050">
            <a:solidFill>
              <a:srgbClr val="00B4D8"/>
            </a:solidFill>
            <a:prstDash val="dash"/>
          </a:ln>
        </p:spPr>
      </p:sp>
      <p:sp>
        <p:nvSpPr>
          <p:cNvPr id="32" name="Text 30"/>
          <p:cNvSpPr/>
          <p:nvPr/>
        </p:nvSpPr>
        <p:spPr>
          <a:xfrm>
            <a:off x="3794760" y="3822192"/>
            <a:ext cx="5001768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3248"/>
                </a:solidFill>
              </a:rPr>
              <a:t>[ FOTO / RENDER ]  verbindung v1.stl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50D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005072"/>
            <a:ext cx="9144000" cy="1138428"/>
          </a:xfrm>
          <a:prstGeom prst="rect">
            <a:avLst/>
          </a:prstGeom>
          <a:solidFill>
            <a:srgbClr val="00B4D8">
              <a:alpha val="8000"/>
            </a:srgbClr>
          </a:solidFill>
          <a:ln w="12700">
            <a:solidFill>
              <a:srgbClr val="00B4D8">
                <a:alpha val="8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75488" y="320040"/>
            <a:ext cx="819302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</a:rPr>
              <a:t>ESP-RC-Car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475488" y="1261872"/>
            <a:ext cx="81930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18DA6"/>
                </a:solidFill>
              </a:rPr>
              <a:t>Schulprojekt 4BHELS  —  Zusammenfassung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011680" y="1664208"/>
            <a:ext cx="5120640" cy="32004"/>
          </a:xfrm>
          <a:prstGeom prst="rect">
            <a:avLst/>
          </a:prstGeom>
          <a:solidFill>
            <a:srgbClr val="0096C7"/>
          </a:solidFill>
          <a:ln w="12700">
            <a:solidFill>
              <a:srgbClr val="0096C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75488" y="1901952"/>
            <a:ext cx="1920240" cy="1874520"/>
          </a:xfrm>
          <a:prstGeom prst="rect">
            <a:avLst/>
          </a:prstGeom>
          <a:solidFill>
            <a:srgbClr val="0B1927"/>
          </a:solidFill>
          <a:ln w="12700">
            <a:solidFill>
              <a:srgbClr val="F4A225"/>
            </a:solidFill>
            <a:prstDash val="solid"/>
          </a:ln>
          <a:effectLst>
            <a:outerShdw sx="100000" sy="100000" kx="0" ky="0" algn="bl" rotWithShape="0" blurRad="114300" dist="25400" dir="8100000">
              <a:srgbClr val="000000">
                <a:alpha val="2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75488" y="1901952"/>
            <a:ext cx="45720" cy="1874520"/>
          </a:xfrm>
          <a:prstGeom prst="rect">
            <a:avLst/>
          </a:prstGeom>
          <a:solidFill>
            <a:srgbClr val="F4A225"/>
          </a:solidFill>
          <a:ln w="12700">
            <a:solidFill>
              <a:srgbClr val="F4A22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12648" y="1984248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4A225"/>
                </a:solidFill>
              </a:rPr>
              <a:t>Hardware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12648" y="2368296"/>
            <a:ext cx="1554480" cy="32004"/>
          </a:xfrm>
          <a:prstGeom prst="rect">
            <a:avLst/>
          </a:prstGeom>
          <a:solidFill>
            <a:srgbClr val="1A3249"/>
          </a:solidFill>
          <a:ln w="12700">
            <a:solidFill>
              <a:srgbClr val="1A324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12648" y="2450592"/>
            <a:ext cx="1645920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4E2F0"/>
                </a:solidFill>
              </a:rPr>
              <a:t>ESP32-S3 · DRV8323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4E2F0"/>
                </a:solidFill>
              </a:rPr>
              <a:t>2S LiPo · PCB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551176" y="1901952"/>
            <a:ext cx="1920240" cy="1874520"/>
          </a:xfrm>
          <a:prstGeom prst="rect">
            <a:avLst/>
          </a:prstGeom>
          <a:solidFill>
            <a:srgbClr val="0B1927"/>
          </a:solidFill>
          <a:ln w="12700">
            <a:solidFill>
              <a:srgbClr val="0096C7"/>
            </a:solidFill>
            <a:prstDash val="solid"/>
          </a:ln>
          <a:effectLst>
            <a:outerShdw sx="100000" sy="100000" kx="0" ky="0" algn="bl" rotWithShape="0" blurRad="114300" dist="25400" dir="8100000">
              <a:srgbClr val="000000">
                <a:alpha val="2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551176" y="1901952"/>
            <a:ext cx="45720" cy="1874520"/>
          </a:xfrm>
          <a:prstGeom prst="rect">
            <a:avLst/>
          </a:prstGeom>
          <a:solidFill>
            <a:srgbClr val="0096C7"/>
          </a:solidFill>
          <a:ln w="12700">
            <a:solidFill>
              <a:srgbClr val="0096C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688336" y="1984248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96C7"/>
                </a:solidFill>
              </a:rPr>
              <a:t>App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2688336" y="2368296"/>
            <a:ext cx="1554480" cy="32004"/>
          </a:xfrm>
          <a:prstGeom prst="rect">
            <a:avLst/>
          </a:prstGeom>
          <a:solidFill>
            <a:srgbClr val="1A3249"/>
          </a:solidFill>
          <a:ln w="12700">
            <a:solidFill>
              <a:srgbClr val="1A324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688336" y="2450592"/>
            <a:ext cx="1645920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4E2F0"/>
                </a:solidFill>
              </a:rPr>
              <a:t>Flutter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4E2F0"/>
                </a:solidFill>
              </a:rPr>
              <a:t>Android/iOS/Win/Web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626864" y="1901952"/>
            <a:ext cx="1920240" cy="1874520"/>
          </a:xfrm>
          <a:prstGeom prst="rect">
            <a:avLst/>
          </a:prstGeom>
          <a:solidFill>
            <a:srgbClr val="0B1927"/>
          </a:solidFill>
          <a:ln w="12700">
            <a:solidFill>
              <a:srgbClr val="00B4D8"/>
            </a:solidFill>
            <a:prstDash val="solid"/>
          </a:ln>
          <a:effectLst>
            <a:outerShdw sx="100000" sy="100000" kx="0" ky="0" algn="bl" rotWithShape="0" blurRad="114300" dist="25400" dir="8100000">
              <a:srgbClr val="000000">
                <a:alpha val="2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626864" y="1901952"/>
            <a:ext cx="45720" cy="18745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64024" y="1984248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B4D8"/>
                </a:solidFill>
              </a:rPr>
              <a:t>Firmware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4764024" y="2368296"/>
            <a:ext cx="1554480" cy="32004"/>
          </a:xfrm>
          <a:prstGeom prst="rect">
            <a:avLst/>
          </a:prstGeom>
          <a:solidFill>
            <a:srgbClr val="1A3249"/>
          </a:solidFill>
          <a:ln w="12700">
            <a:solidFill>
              <a:srgbClr val="1A324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764024" y="2450592"/>
            <a:ext cx="1645920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4E2F0"/>
                </a:solidFill>
              </a:rPr>
              <a:t>FreeRTOS · ESP-IDF 6.0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4E2F0"/>
                </a:solidFill>
              </a:rPr>
              <a:t>6-Step BLDC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702552" y="1901952"/>
            <a:ext cx="1920240" cy="1874520"/>
          </a:xfrm>
          <a:prstGeom prst="rect">
            <a:avLst/>
          </a:prstGeom>
          <a:solidFill>
            <a:srgbClr val="0B1927"/>
          </a:solidFill>
          <a:ln w="12700">
            <a:solidFill>
              <a:srgbClr val="2EC4B6"/>
            </a:solidFill>
            <a:prstDash val="solid"/>
          </a:ln>
          <a:effectLst>
            <a:outerShdw sx="100000" sy="100000" kx="0" ky="0" algn="bl" rotWithShape="0" blurRad="114300" dist="25400" dir="8100000">
              <a:srgbClr val="000000">
                <a:alpha val="2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702552" y="1901952"/>
            <a:ext cx="45720" cy="1874520"/>
          </a:xfrm>
          <a:prstGeom prst="rect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839712" y="1984248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C4B6"/>
                </a:solidFill>
              </a:rPr>
              <a:t>Mechanik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6839712" y="2368296"/>
            <a:ext cx="1554480" cy="32004"/>
          </a:xfrm>
          <a:prstGeom prst="rect">
            <a:avLst/>
          </a:prstGeom>
          <a:solidFill>
            <a:srgbClr val="1A3249"/>
          </a:solidFill>
          <a:ln w="12700">
            <a:solidFill>
              <a:srgbClr val="1A3249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839712" y="2450592"/>
            <a:ext cx="1645920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4E2F0"/>
                </a:solidFill>
              </a:rPr>
              <a:t>Chassi V8 · Blender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4E2F0"/>
                </a:solidFill>
              </a:rPr>
              <a:t>Servo S0009M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75488" y="4059936"/>
            <a:ext cx="819302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Demo — Live Vorführung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475488" y="4553712"/>
            <a:ext cx="81930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18DA6"/>
                </a:solidFill>
              </a:rPr>
              <a:t>github.com/marioisnotavailable/ESP-RC-Car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ESP-RC-Car</dc:title>
  <dc:subject>PptxGenJS Presentation</dc:subject>
  <dc:creator>PptxGenJS</dc:creator>
  <cp:lastModifiedBy>PptxGenJS</cp:lastModifiedBy>
  <cp:revision>1</cp:revision>
  <dcterms:created xsi:type="dcterms:W3CDTF">2026-06-04T17:06:50Z</dcterms:created>
  <dcterms:modified xsi:type="dcterms:W3CDTF">2026-06-04T17:06:50Z</dcterms:modified>
</cp:coreProperties>
</file>