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89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DES AUTOS 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</a:rPr>
              <a:t>ESP-RC-CAR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· 4BHELS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" y="2084832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75488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gesteuert via Flutter-App über 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575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r>
              <a:rPr lang="en-US" sz="1400" dirty="0">
                <a:solidFill>
                  <a:srgbClr val="FFFFFF"/>
                </a:solidFill>
              </a:rPr>
              <a:t>Firmware &amp; Mechanik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18DA6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Systemarchitektur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Vier Schichten — von der App bis zum Motor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280160" y="1389888"/>
            <a:ext cx="4572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38988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719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Android · iOS · Windows · Web · Touch-Joystick · Gamepad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3712" y="2048256"/>
            <a:ext cx="36576" cy="31089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645920" y="21214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25"/>
                </a:solidFill>
              </a:rPr>
              <a:t>WiFi · WebSocket ws://[IP]:80  ·  UDP Discovery :49352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235000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1280160" y="2606040"/>
            <a:ext cx="6583680" cy="74980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1280160" y="2606040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3898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ESP32-S3  —  FreeRTOS / ESP-IDF 6.0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1737360" y="3392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18DA6"/>
                </a:solidFill>
              </a:rPr>
              <a:t>PWM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5897880" y="3392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18DA6"/>
                </a:solidFill>
              </a:rPr>
              <a:t>Servo-PWM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 Gate Driver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4178808"/>
            <a:ext cx="36576" cy="10972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5"/>
                </a:solidFill>
              </a:rPr>
              <a:t>Mini1410  BLDC Motor  2500 kV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6C7"/>
                </a:solidFill>
              </a:rPr>
              <a:t>S0009M  Lenkservo 9g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96C7"/>
                </a:solidFill>
              </a:rPr>
              <a:t>50 Hz · 1000–2000 µs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PCB — Stromversorgung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Altium Designer · Custom 2-Lagen 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9B5D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75488" y="142646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USB-C PD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12 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709928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2231136" y="1618488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2359152" y="1426464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F4A2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2487168" y="142646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Lade 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12V → CC/CV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1528" y="20665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A225"/>
                </a:solidFill>
              </a:rPr>
              <a:t>lädt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993392"/>
            <a:ext cx="36576" cy="32918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081528" y="2286000"/>
            <a:ext cx="201168" cy="1280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242316" y="2914666"/>
            <a:ext cx="3657600" cy="658368"/>
          </a:xfrm>
          <a:prstGeom prst="rect">
            <a:avLst/>
          </a:prstGeom>
          <a:solidFill>
            <a:srgbClr val="0B1927"/>
          </a:solidFill>
          <a:ln w="25400">
            <a:solidFill>
              <a:srgbClr val="E63946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374904" y="2967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2S LiPo  7.4 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" y="323470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BMS IC  —  Balancing &amp; Schutz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61287" y="1993392"/>
            <a:ext cx="45719" cy="76809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1188720" y="2744496"/>
            <a:ext cx="2916936" cy="45719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4005072" y="2743200"/>
            <a:ext cx="310896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279392" y="2651760"/>
            <a:ext cx="128016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4407408" y="2414016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96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535424" y="241401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</a:rPr>
              <a:t>MUX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</a:rPr>
              <a:t>Quellenauswahl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2697480"/>
            <a:ext cx="256032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6291072" y="2606040"/>
            <a:ext cx="128016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6419088" y="2414016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6547104" y="241401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→ 3.3 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51192" y="2980944"/>
            <a:ext cx="36576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Shape 26"/>
          <p:cNvSpPr/>
          <p:nvPr/>
        </p:nvSpPr>
        <p:spPr>
          <a:xfrm>
            <a:off x="7159752" y="3273552"/>
            <a:ext cx="20116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6547104" y="340156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ESP32-S3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3.3 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418795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5"/>
                </a:solidFill>
              </a:rPr>
              <a:t>Motorpfad  (Batteriespannung direkt, ohne Konvertierung)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62457" y="3561944"/>
            <a:ext cx="45719" cy="16880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Shape 31"/>
          <p:cNvSpPr/>
          <p:nvPr/>
        </p:nvSpPr>
        <p:spPr>
          <a:xfrm>
            <a:off x="1371600" y="3694176"/>
            <a:ext cx="274320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Shape 32"/>
          <p:cNvSpPr/>
          <p:nvPr/>
        </p:nvSpPr>
        <p:spPr>
          <a:xfrm>
            <a:off x="4114800" y="36941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Shape 33"/>
          <p:cNvSpPr/>
          <p:nvPr/>
        </p:nvSpPr>
        <p:spPr>
          <a:xfrm>
            <a:off x="4334256" y="3602736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Shape 34"/>
          <p:cNvSpPr/>
          <p:nvPr/>
        </p:nvSpPr>
        <p:spPr>
          <a:xfrm>
            <a:off x="4462272" y="3401568"/>
            <a:ext cx="2011680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4590288" y="340156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DRV8323S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+ MOSFETs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73952" y="36941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Shape 37"/>
          <p:cNvSpPr/>
          <p:nvPr/>
        </p:nvSpPr>
        <p:spPr>
          <a:xfrm>
            <a:off x="6693408" y="3602736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Shape 38"/>
          <p:cNvSpPr/>
          <p:nvPr/>
        </p:nvSpPr>
        <p:spPr>
          <a:xfrm>
            <a:off x="6821424" y="3401568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F4A2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/>
          <p:nvPr/>
        </p:nvSpPr>
        <p:spPr>
          <a:xfrm>
            <a:off x="6949440" y="340156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BLDC Motor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direkt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Cross-Platform Controller — Android · iOS · Windows · Web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828800"/>
            <a:ext cx="1847088" cy="3063240"/>
          </a:xfrm>
          <a:prstGeom prst="rect">
            <a:avLst/>
          </a:prstGeom>
          <a:solidFill>
            <a:srgbClr val="091625"/>
          </a:solidFill>
          <a:ln w="12700">
            <a:solidFill>
              <a:srgbClr val="1A3249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347472" y="1828800"/>
            <a:ext cx="1847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App mit Dev-Panel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1828800"/>
            <a:ext cx="1883664" cy="3063240"/>
          </a:xfrm>
          <a:prstGeom prst="rect">
            <a:avLst/>
          </a:prstGeom>
          <a:solidFill>
            <a:srgbClr val="091625"/>
          </a:solidFill>
          <a:ln w="12700">
            <a:solidFill>
              <a:srgbClr val="1A3249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2286000" y="1828800"/>
            <a:ext cx="18836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App clean 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1828800"/>
            <a:ext cx="4453128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4343400" y="1828800"/>
            <a:ext cx="45720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507992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Steuerung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7992" y="2258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Linker Joystick  →  Gas / Bremse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Rechter Joystick →  Lenkung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7992" y="2916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Gamepad R2/RT = Gas · L2/LT = Rückwärts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355848"/>
            <a:ext cx="4453128" cy="1536192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4343400" y="3355848"/>
            <a:ext cx="45720" cy="15361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50799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DE5"/>
                </a:solidFill>
              </a:rPr>
              <a:t>Features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07992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Auto-Discovery  (UDP · TCP-Scan · AP-Fallback)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07992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07992" y="4370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GitHub Self-Update  (Android In-App)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07992" y="4663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Dark Theme · Developer Panel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Kommunikation: App ↔ ESP32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Verbindungsaufbau · Protokoll · Failsafe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128016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572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Schritt 1 — Auto-Discovery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UDP Broadcast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App sendet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96C7"/>
                </a:solidFill>
              </a:rPr>
              <a:t>TCP Subnet-Scan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Fallback: scannt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18DA6"/>
                </a:solidFill>
              </a:rPr>
              <a:t>AP-Mode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192.168.4.1  (ESP32 als Access Point)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8449056" cy="20299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5720" cy="20299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0292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</a:rPr>
              <a:t>Schritt 2 — WebSocket  ws://[IP]:80/ws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 Steuerbefehl)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7091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(1 × pro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 … 100 }  // Batterie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</a:rPr>
              <a:t>Failsafe: 500 ms kein Paket → Nullbefehl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011680" y="777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00B4D8"/>
                </a:solidFill>
              </a:rPr>
              <a:t>TEIL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1168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FreeRTOS · 6-Step BLDC · WiFi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493008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FreeRTOS — 4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Jeder Task hat eine klare Verantwortung · ESP-IDF 6.0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292608" y="1408176"/>
            <a:ext cx="45720" cy="3401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38912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DRV8323S SPI + 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Safe-Mode → 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2468880" y="1408176"/>
            <a:ext cx="45720" cy="3401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2615184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15184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15184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615184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15184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WebSocket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15184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UDP Discovery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4645152" y="1408176"/>
            <a:ext cx="45720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791456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791456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Crash-Recovery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1424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618DA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6821424" y="1408176"/>
            <a:ext cx="45720" cy="340156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6967728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6967728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67728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8" name="Shape 36"/>
          <p:cNvSpPr/>
          <p:nvPr/>
        </p:nvSpPr>
        <p:spPr>
          <a:xfrm>
            <a:off x="292608" y="4663440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>
            <a:off x="457200" y="4700016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  →  WebSocket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Motor &amp; Gate Driver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DRV8323SRTAR · 6-Step Trapez · 20 kHz PWM · Soft-Start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274320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DRV8323SRTAR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Gehäuse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· 5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Schutz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CSA 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· LS-Shunt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nFAULT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408176"/>
            <a:ext cx="3520440" cy="21945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3246120" y="1408176"/>
            <a:ext cx="45720" cy="219456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34015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5"/>
                </a:solidFill>
              </a:rPr>
              <a:t>6-Step Kommutierung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5152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65776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702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214884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0390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4528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5152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65776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702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27648" y="214884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238201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5152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0702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23820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A+C−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6151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24528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45152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65776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0702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6151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28416" y="284835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0390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528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5152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0702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27648" y="28483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28416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0390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24528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45152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65776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0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30815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C+A−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416" y="33147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0390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24528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45152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65776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27648" y="33147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C+B−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12864" y="1408176"/>
            <a:ext cx="1883664" cy="1591056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1" name="Shape 79"/>
          <p:cNvSpPr/>
          <p:nvPr/>
        </p:nvSpPr>
        <p:spPr>
          <a:xfrm>
            <a:off x="6912864" y="1408176"/>
            <a:ext cx="45720" cy="15910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2" name="Text 80"/>
          <p:cNvSpPr/>
          <p:nvPr/>
        </p:nvSpPr>
        <p:spPr>
          <a:xfrm>
            <a:off x="7059168" y="149047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Soft-Start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059168" y="18288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Duty-Rampe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059168" y="21762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50 ms → 5 ms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52374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Reset bei Richtung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12864" y="3127248"/>
            <a:ext cx="1883664" cy="175564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7" name="Shape 85"/>
          <p:cNvSpPr/>
          <p:nvPr/>
        </p:nvSpPr>
        <p:spPr>
          <a:xfrm>
            <a:off x="6912864" y="3127248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8" name="Text 86"/>
          <p:cNvSpPr/>
          <p:nvPr/>
        </p:nvSpPr>
        <p:spPr>
          <a:xfrm>
            <a:off x="7059168" y="320954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Fault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059168" y="35478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nFAULT → off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059168" y="3867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500 ms Pause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59168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Register reset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5079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SAFE_MODE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46120" y="3621024"/>
            <a:ext cx="3520440" cy="12618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4" name="Text 92"/>
          <p:cNvSpPr/>
          <p:nvPr/>
        </p:nvSpPr>
        <p:spPr>
          <a:xfrm>
            <a:off x="338328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E2F0"/>
                </a:solidFill>
              </a:rPr>
              <a:t>Motorphasen-Zustände: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6" name="Text 94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22192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High-Side aktiv  (moduliert)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9" name="Text 97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822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Low-Side aktiv  (LOW)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2" name="Text 100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822192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Float  (keine Ansteuerung)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Netzwerk &amp; OTA-Updates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WiFi · WebSocket · GitHub FOTA · PlatformIO OTA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97764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474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6C7"/>
                </a:solidFill>
              </a:rPr>
              <a:t>WiFi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5"/>
                </a:solidFill>
              </a:rPr>
              <a:t>UDP 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Port 49352 · eigener Sub-Task Prio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8DA6"/>
                </a:solidFill>
              </a:rPr>
              <a:t>AP-Mode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 wenn kein Netzwerk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</a:rPr>
              <a:t>Failsafe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500 ms kein Paket → Motor-Stopp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08176"/>
            <a:ext cx="4315968" cy="16459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480560" y="1408176"/>
            <a:ext cx="45720" cy="1645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645152" y="1490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— automatisch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865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bg_task prüft GitHub Releases (alle 5 min)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esp_https_ota → neuen Partition-Slot flashen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Neustart · Auto-Rollback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4315968" cy="170078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4480560" y="3182112"/>
            <a:ext cx="45720" cy="17007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645152" y="3264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 — manuell (PlatformIO)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3639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Umgebung: espidf_ota (platformio.ini)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347472" y="4700016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502920" y="4736592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8DA6"/>
                </a:solidFill>
              </a:rPr>
              <a:t>NVS: SSID/Passwort · OTA-Intervall · Batterie-Schwellen · Servo-Gain · Failsafe-Zeit · max_throttle_pct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Chassis &amp; Mechanik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3D-Druck · Blender · PLA · S0009M Lenkservo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291840" cy="201168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221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291840" cy="133502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347472" y="35478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Lenkservo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0292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Modell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S0009M  9g Micro Servo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3525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Hz · 1000–2000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IIR · Gain einstellbar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solidFill>
            <a:srgbClr val="091625"/>
          </a:solidFill>
          <a:ln w="12700">
            <a:solidFill>
              <a:srgbClr val="1A3249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Chassi V8 Render 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solidFill>
            <a:srgbClr val="091625"/>
          </a:solidFill>
          <a:ln w="12700">
            <a:solidFill>
              <a:srgbClr val="1A3249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verbindung v1 Render 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75488" y="320040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75488" y="126187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18DA6"/>
                </a:solidFill>
              </a:rPr>
              <a:t>Schulprojekt 4BHELS  —  Zusammenfassung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512064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475488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475488" y="1901952"/>
            <a:ext cx="45720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612648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12648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ESP32-S3 · DRV8323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2551176" y="1901952"/>
            <a:ext cx="45720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2688336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2688336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Flutter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Android/iOS/Win/Web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626864" y="1901952"/>
            <a:ext cx="4572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764024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764024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FreeRTOS · ESP-IDF 6.0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6702552" y="1901952"/>
            <a:ext cx="45720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6839712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39712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6839712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Chassi V8 · Blender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8DA6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Bildschirmpräsentation (16:9)</PresentationFormat>
  <Paragraphs>273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Leon D</cp:lastModifiedBy>
  <cp:revision>2</cp:revision>
  <dcterms:created xsi:type="dcterms:W3CDTF">2026-06-04T20:24:29Z</dcterms:created>
  <dcterms:modified xsi:type="dcterms:W3CDTF">2026-06-04T20:26:32Z</dcterms:modified>
</cp:coreProperties>
</file>