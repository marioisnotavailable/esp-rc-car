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2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274320"/>
            <a:ext cx="3749040" cy="4389120"/>
          </a:xfrm>
          <a:prstGeom prst="rect">
            <a:avLst/>
          </a:prstGeom>
          <a:solidFill>
            <a:srgbClr val="091625"/>
          </a:solidFill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5120640" y="274320"/>
            <a:ext cx="3749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248"/>
                </a:solidFill>
              </a:rPr>
              <a:t>[ FOTO DES AUTOS 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" y="5029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</a:rPr>
              <a:t>ESP-RC-CAR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4D8"/>
                </a:solidFill>
              </a:rPr>
              <a:t>Schulprojekt · 4BHELS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" y="2084832"/>
            <a:ext cx="347472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475488" y="22677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8DA6"/>
                </a:solidFill>
              </a:rPr>
              <a:t>Selbst entwickeltes Drift-Car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578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8DA6"/>
                </a:solidFill>
              </a:rPr>
              <a:t>gesteuert via Flutter-App über WiFi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3154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25"/>
                </a:solidFill>
              </a:rPr>
              <a:t>Teil 1 — </a:t>
            </a:r>
            <a:r>
              <a:rPr lang="en-US" sz="1400" dirty="0">
                <a:solidFill>
                  <a:srgbClr val="FFFFFF"/>
                </a:solidFill>
              </a:rPr>
              <a:t>Hardware &amp;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35753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</a:rPr>
              <a:t>Teil 2 — </a:t>
            </a:r>
            <a:r>
              <a:rPr lang="en-US" sz="1400" dirty="0">
                <a:solidFill>
                  <a:srgbClr val="FFFFFF"/>
                </a:solidFill>
              </a:rPr>
              <a:t>Firmware &amp; Mechanik</a:t>
            </a:r>
            <a:endParaRPr lang="en-US" sz="140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EA30229-0662-AB1A-60D6-4E3CAE2B9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15689"/>
            <a:ext cx="4480560" cy="30070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618DA6"/>
                </a:solidFill>
              </a:rPr>
              <a:t>TEIL 1 — ÜBERBLICK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Systemarchitektur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Vier Schichten — von der App bis zum Motor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1389888"/>
            <a:ext cx="6583680" cy="6583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1280160" y="1389888"/>
            <a:ext cx="45720" cy="6583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389888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Flutter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1719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Android · iOS · Windows · Web · Touch-Joystick · Gamepad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53712" y="2048256"/>
            <a:ext cx="36576" cy="31089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1645920" y="21214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25"/>
                </a:solidFill>
              </a:rPr>
              <a:t>WiFi · WebSocket ws://[IP]:80  ·  UDP Discovery :49352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53712" y="2350008"/>
            <a:ext cx="36576" cy="25603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1280160" y="2606040"/>
            <a:ext cx="6583680" cy="74980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1280160" y="2606040"/>
            <a:ext cx="457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1389888" y="2660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ESP32-S3  —  FreeRTOS / ESP-IDF 6.0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89888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1389888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99232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2999232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08576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4608576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6217920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14600" y="3355848"/>
            <a:ext cx="36576" cy="274320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1737360" y="33924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18DA6"/>
                </a:solidFill>
              </a:rPr>
              <a:t>PWM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3355848"/>
            <a:ext cx="36576" cy="274320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5897880" y="33924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18DA6"/>
                </a:solidFill>
              </a:rPr>
              <a:t>Servo-PWM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80160" y="3630168"/>
            <a:ext cx="2468880" cy="54864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Text 26"/>
          <p:cNvSpPr/>
          <p:nvPr/>
        </p:nvSpPr>
        <p:spPr>
          <a:xfrm>
            <a:off x="1280160" y="3630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</a:rPr>
              <a:t>DRV8323S  Gate Driver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</a:rPr>
              <a:t>3-Phasen Halbbrücke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496312" y="4178808"/>
            <a:ext cx="36576" cy="109728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0" name="Shape 28"/>
          <p:cNvSpPr/>
          <p:nvPr/>
        </p:nvSpPr>
        <p:spPr>
          <a:xfrm>
            <a:off x="1280160" y="4288536"/>
            <a:ext cx="2468880" cy="36576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1280160" y="42885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225"/>
                </a:solidFill>
              </a:rPr>
              <a:t>Mini1410  BLDC Motor  2500 kV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94960" y="3630168"/>
            <a:ext cx="2468880" cy="54864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3" name="Text 31"/>
          <p:cNvSpPr/>
          <p:nvPr/>
        </p:nvSpPr>
        <p:spPr>
          <a:xfrm>
            <a:off x="5394960" y="3630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96C7"/>
                </a:solidFill>
              </a:rPr>
              <a:t>S0009M  Lenkservo 9g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96C7"/>
                </a:solidFill>
              </a:rPr>
              <a:t>50 Hz · 1000–2000 µs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F4A225"/>
                </a:solidFill>
              </a:rPr>
              <a:t>TEIL 1 — HARDWARE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PCB — Stromversorgung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Altium Designer · Custom 2-Lagen 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26464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9B5DE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475488" y="142646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DE5"/>
                </a:solidFill>
              </a:rPr>
              <a:t>USB-C PD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B5DE5"/>
                </a:solidFill>
              </a:rPr>
              <a:t>12 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709928"/>
            <a:ext cx="256032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Shape 6"/>
          <p:cNvSpPr/>
          <p:nvPr/>
        </p:nvSpPr>
        <p:spPr>
          <a:xfrm>
            <a:off x="2231136" y="1618488"/>
            <a:ext cx="128016" cy="20116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Shape 7"/>
          <p:cNvSpPr/>
          <p:nvPr/>
        </p:nvSpPr>
        <p:spPr>
          <a:xfrm>
            <a:off x="2359152" y="1426464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F4A22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2487168" y="142646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25"/>
                </a:solidFill>
              </a:rPr>
              <a:t>Lade 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A225"/>
                </a:solidFill>
              </a:rPr>
              <a:t>12V → CC/CV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44368" y="20665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4A225"/>
                </a:solidFill>
              </a:rPr>
              <a:t>lädt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1993392"/>
            <a:ext cx="36576" cy="329184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Shape 11"/>
          <p:cNvSpPr/>
          <p:nvPr/>
        </p:nvSpPr>
        <p:spPr>
          <a:xfrm>
            <a:off x="3081528" y="2286000"/>
            <a:ext cx="201168" cy="12801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4" name="Shape 12"/>
          <p:cNvSpPr/>
          <p:nvPr/>
        </p:nvSpPr>
        <p:spPr>
          <a:xfrm>
            <a:off x="347472" y="2414016"/>
            <a:ext cx="3657600" cy="658368"/>
          </a:xfrm>
          <a:prstGeom prst="rect">
            <a:avLst/>
          </a:prstGeom>
          <a:solidFill>
            <a:srgbClr val="0B1927"/>
          </a:solidFill>
          <a:ln w="25400">
            <a:solidFill>
              <a:srgbClr val="E63946"/>
            </a:solidFill>
            <a:prstDash val="solid"/>
          </a:ln>
          <a:effectLst>
            <a:outerShdw blurRad="1270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50292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</a:rPr>
              <a:t>2S LiPo  7.4 V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2761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BMS IC  —  Balancing &amp; Schutz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61288" y="1993392"/>
            <a:ext cx="36576" cy="93268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Shape 16"/>
          <p:cNvSpPr/>
          <p:nvPr/>
        </p:nvSpPr>
        <p:spPr>
          <a:xfrm>
            <a:off x="1161288" y="2889504"/>
            <a:ext cx="3008376" cy="365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Shape 17"/>
          <p:cNvSpPr/>
          <p:nvPr/>
        </p:nvSpPr>
        <p:spPr>
          <a:xfrm>
            <a:off x="4005072" y="2743200"/>
            <a:ext cx="310896" cy="365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4279392" y="2651760"/>
            <a:ext cx="128016" cy="2011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Shape 19"/>
          <p:cNvSpPr/>
          <p:nvPr/>
        </p:nvSpPr>
        <p:spPr>
          <a:xfrm>
            <a:off x="4407408" y="2414016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0096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Text 20"/>
          <p:cNvSpPr/>
          <p:nvPr/>
        </p:nvSpPr>
        <p:spPr>
          <a:xfrm>
            <a:off x="4535424" y="241401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6C7"/>
                </a:solidFill>
              </a:rPr>
              <a:t>MUX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96C7"/>
                </a:solidFill>
              </a:rPr>
              <a:t>Quellenauswahl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71616" y="2697480"/>
            <a:ext cx="256032" cy="3657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4" name="Shape 22"/>
          <p:cNvSpPr/>
          <p:nvPr/>
        </p:nvSpPr>
        <p:spPr>
          <a:xfrm>
            <a:off x="6291072" y="2606040"/>
            <a:ext cx="128016" cy="2011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Shape 23"/>
          <p:cNvSpPr/>
          <p:nvPr/>
        </p:nvSpPr>
        <p:spPr>
          <a:xfrm>
            <a:off x="6419088" y="2414016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2EC4B6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6547104" y="241401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</a:rPr>
              <a:t>Buck Conv.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</a:rPr>
              <a:t>→ 3.3 V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51192" y="2980944"/>
            <a:ext cx="36576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8" name="Shape 26"/>
          <p:cNvSpPr/>
          <p:nvPr/>
        </p:nvSpPr>
        <p:spPr>
          <a:xfrm>
            <a:off x="7159752" y="3273552"/>
            <a:ext cx="201168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9" name="Shape 27"/>
          <p:cNvSpPr/>
          <p:nvPr/>
        </p:nvSpPr>
        <p:spPr>
          <a:xfrm>
            <a:off x="6419088" y="3401568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6547104" y="340156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ESP32-S3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3.3 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" y="4187952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25"/>
                </a:solidFill>
              </a:rPr>
              <a:t>Motorpfad  (Batteriespannung direkt, ohne Konvertierung)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0" y="3072384"/>
            <a:ext cx="36576" cy="65836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3" name="Shape 31"/>
          <p:cNvSpPr/>
          <p:nvPr/>
        </p:nvSpPr>
        <p:spPr>
          <a:xfrm>
            <a:off x="1371600" y="3694176"/>
            <a:ext cx="2743200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Shape 32"/>
          <p:cNvSpPr/>
          <p:nvPr/>
        </p:nvSpPr>
        <p:spPr>
          <a:xfrm>
            <a:off x="4114800" y="3694176"/>
            <a:ext cx="256032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Shape 33"/>
          <p:cNvSpPr/>
          <p:nvPr/>
        </p:nvSpPr>
        <p:spPr>
          <a:xfrm>
            <a:off x="4334256" y="3602736"/>
            <a:ext cx="128016" cy="20116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6" name="Shape 34"/>
          <p:cNvSpPr/>
          <p:nvPr/>
        </p:nvSpPr>
        <p:spPr>
          <a:xfrm>
            <a:off x="4462272" y="3401568"/>
            <a:ext cx="2011680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7" name="Text 35"/>
          <p:cNvSpPr/>
          <p:nvPr/>
        </p:nvSpPr>
        <p:spPr>
          <a:xfrm>
            <a:off x="4590288" y="3401568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DRV8323S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+ MOSFETs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73952" y="3694176"/>
            <a:ext cx="256032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9" name="Shape 37"/>
          <p:cNvSpPr/>
          <p:nvPr/>
        </p:nvSpPr>
        <p:spPr>
          <a:xfrm>
            <a:off x="6693408" y="3602736"/>
            <a:ext cx="128016" cy="20116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0" name="Shape 38"/>
          <p:cNvSpPr/>
          <p:nvPr/>
        </p:nvSpPr>
        <p:spPr>
          <a:xfrm>
            <a:off x="6821424" y="3401568"/>
            <a:ext cx="1664208" cy="566928"/>
          </a:xfrm>
          <a:prstGeom prst="rect">
            <a:avLst/>
          </a:prstGeom>
          <a:solidFill>
            <a:srgbClr val="0B1927"/>
          </a:solidFill>
          <a:ln w="19050">
            <a:solidFill>
              <a:srgbClr val="F4A225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1" name="Text 39"/>
          <p:cNvSpPr/>
          <p:nvPr/>
        </p:nvSpPr>
        <p:spPr>
          <a:xfrm>
            <a:off x="6949440" y="340156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25"/>
                </a:solidFill>
              </a:rPr>
              <a:t>BLDC Motor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A225"/>
                </a:solidFill>
              </a:rPr>
              <a:t>direkt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F4A225"/>
                </a:solidFill>
              </a:rPr>
              <a:t>TEIL 1 —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Flutter App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Cross-Platform Controller — Android · iOS · Windows · Web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Text 4"/>
          <p:cNvSpPr/>
          <p:nvPr/>
        </p:nvSpPr>
        <p:spPr>
          <a:xfrm>
            <a:off x="347472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Android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83664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1883664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19856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3419856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Windows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56048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4956048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Web</a:t>
            </a:r>
            <a:endParaRPr lang="en-US" sz="900" dirty="0"/>
          </a:p>
        </p:txBody>
      </p:sp>
      <p:pic>
        <p:nvPicPr>
          <p:cNvPr id="13" name="Image 0" descr="C:/Users/leoma/Documents/Schule/4BHELS/ESP-RC-Car/App/AppWithDev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828800"/>
            <a:ext cx="1847088" cy="1527048"/>
          </a:xfrm>
          <a:prstGeom prst="rect">
            <a:avLst/>
          </a:prstGeom>
        </p:spPr>
      </p:pic>
      <p:pic>
        <p:nvPicPr>
          <p:cNvPr id="14" name="Image 1" descr="C:/Users/leoma/Documents/Schule/4BHELS/ESP-RC-Car/App/AppWithoutDev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0" y="1828800"/>
            <a:ext cx="1883664" cy="15361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343400" y="1828800"/>
            <a:ext cx="4453128" cy="138988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6" name="Shape 12"/>
          <p:cNvSpPr/>
          <p:nvPr/>
        </p:nvSpPr>
        <p:spPr>
          <a:xfrm>
            <a:off x="4343400" y="1828800"/>
            <a:ext cx="45720" cy="1389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7" name="Text 13"/>
          <p:cNvSpPr/>
          <p:nvPr/>
        </p:nvSpPr>
        <p:spPr>
          <a:xfrm>
            <a:off x="4507992" y="19019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Steuerung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07992" y="2258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r>
              <a:rPr lang="en-US" sz="1100" dirty="0">
                <a:solidFill>
                  <a:srgbClr val="C4E2F0"/>
                </a:solidFill>
              </a:rPr>
              <a:t>Linker Joystick  →  Gas / Bremse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07992" y="25877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r>
              <a:rPr lang="en-US" sz="1100" dirty="0">
                <a:solidFill>
                  <a:srgbClr val="C4E2F0"/>
                </a:solidFill>
              </a:rPr>
              <a:t>Rechter Joystick →  Lenkung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07992" y="29169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r>
              <a:rPr lang="en-US" sz="1100" dirty="0">
                <a:solidFill>
                  <a:srgbClr val="C4E2F0"/>
                </a:solidFill>
              </a:rPr>
              <a:t>Gamepad R2/RT = Gas · L2/LT = Rückwärts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343400" y="3355848"/>
            <a:ext cx="4453128" cy="1536192"/>
          </a:xfrm>
          <a:prstGeom prst="rect">
            <a:avLst/>
          </a:prstGeom>
          <a:solidFill>
            <a:srgbClr val="0B1927"/>
          </a:solidFill>
          <a:ln w="12700">
            <a:solidFill>
              <a:srgbClr val="9B5DE5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Shape 18"/>
          <p:cNvSpPr/>
          <p:nvPr/>
        </p:nvSpPr>
        <p:spPr>
          <a:xfrm>
            <a:off x="4343400" y="3355848"/>
            <a:ext cx="45720" cy="153619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19"/>
          <p:cNvSpPr/>
          <p:nvPr/>
        </p:nvSpPr>
        <p:spPr>
          <a:xfrm>
            <a:off x="4507992" y="34290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5DE5"/>
                </a:solidFill>
              </a:rPr>
              <a:t>Features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507992" y="37856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Auto-Discovery  (UDP · TCP-Scan · AP-Fallback)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507992" y="40782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Automatischer Reconnect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507992" y="43708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GitHub Self-Update  (Android In-App)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507992" y="4663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Dark Theme · Developer Panel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F4A225"/>
                </a:solidFill>
              </a:rPr>
              <a:t>TEIL 1 —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Kommunikation: App ↔ ESP32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Verbindungsaufbau · Protokoll · Failsafe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8449056" cy="128016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572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1472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Schritt 1 — Auto-Discovery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</a:rPr>
              <a:t>UDP Broadcast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App sendet → ESP32 antwortet mit 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96C7"/>
                </a:solidFill>
              </a:rPr>
              <a:t>TCP Subnet-Scan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3756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Fallback: scannt Subnetz auf WS-Port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18DA6"/>
                </a:solidFill>
              </a:rPr>
              <a:t>AP-Mode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192.168.4.1  (ESP32 als Access Point)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816352"/>
            <a:ext cx="8449056" cy="20299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5" name="Shape 13"/>
          <p:cNvSpPr/>
          <p:nvPr/>
        </p:nvSpPr>
        <p:spPr>
          <a:xfrm>
            <a:off x="347472" y="2816352"/>
            <a:ext cx="45720" cy="20299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502920" y="28986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6C7"/>
                </a:solidFill>
              </a:rPr>
              <a:t>Schritt 2 — WebSocket  ws://[IP]:80/ws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3657600" cy="1353312"/>
          </a:xfrm>
          <a:prstGeom prst="rect">
            <a:avLst/>
          </a:prstGeom>
          <a:solidFill>
            <a:srgbClr val="0A1B2E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594360" y="3401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25"/>
                </a:solidFill>
              </a:rPr>
              <a:t>App → ESP32  (50 Hz Steuerbefehl)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694176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"throttle": -1000 … +1000,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"steer":    -1000 … +1000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337560"/>
            <a:ext cx="3657600" cy="1353312"/>
          </a:xfrm>
          <a:prstGeom prst="rect">
            <a:avLst/>
          </a:prstGeom>
          <a:solidFill>
            <a:srgbClr val="0A1B2E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4709160" y="3401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ESP32 → App  (1 × pro Sekunde)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694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"batt": 0 … 100 }  // Batterie 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4114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3946"/>
                </a:solidFill>
              </a:rPr>
              <a:t>Failsafe: 500 ms kein Paket → Nullbefehl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C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51435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6C7">
              <a:alpha val="30000"/>
            </a:srgbClr>
          </a:solidFill>
          <a:ln w="12700">
            <a:solidFill>
              <a:srgbClr val="0096C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2011680" y="77724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0" dirty="0">
                <a:solidFill>
                  <a:srgbClr val="00B4D8"/>
                </a:solidFill>
              </a:rPr>
              <a:t>TEIL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261872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ESP Firmware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&amp; Mechanik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011680" y="3090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18DA6"/>
                </a:solidFill>
              </a:rPr>
              <a:t>FreeRTOS · 6-Step BLDC · WiFi · 3D-Druck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3493008"/>
            <a:ext cx="32004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2011680" y="3675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6C7"/>
                </a:solidFill>
              </a:rPr>
              <a:t>ESP-IDF 6.0 · PlatformIO · FreeRTOS 1000 Hz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00B4D8"/>
                </a:solidFill>
              </a:rPr>
              <a:t>TEIL 2 — FIRMWARE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FreeRTOS — 4 Tasks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Jeder Task hat eine klare Verantwortung · ESP-IDF 6.0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292608" y="1408176"/>
            <a:ext cx="45720" cy="3401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438912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8DA6"/>
                </a:solidFill>
              </a:rPr>
              <a:t>Prio 10  ·  4 KB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438912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6-Step BLDC Kommutierung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DRV8323S SPI + Fault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Safe-Mode → Suspend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Shape 12"/>
          <p:cNvSpPr/>
          <p:nvPr/>
        </p:nvSpPr>
        <p:spPr>
          <a:xfrm>
            <a:off x="2468880" y="1408176"/>
            <a:ext cx="45720" cy="3401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2615184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15184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8DA6"/>
                </a:solidFill>
              </a:rPr>
              <a:t>Prio 7  ·  8 KB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15184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2615184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WiFi esp_wifi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15184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WebSocket Port 80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15184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UDP Discovery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4645152" y="1408176"/>
            <a:ext cx="45720" cy="34015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4791456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91456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8DA6"/>
                </a:solidFill>
              </a:rPr>
              <a:t>Prio 5  ·  6 KB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91456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6" name="Text 24"/>
          <p:cNvSpPr/>
          <p:nvPr/>
        </p:nvSpPr>
        <p:spPr>
          <a:xfrm>
            <a:off x="4791456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ADC Batterie-Monitor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91456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NVS Einstellungen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91456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Crash-Recovery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21424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618DA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0" name="Shape 28"/>
          <p:cNvSpPr/>
          <p:nvPr/>
        </p:nvSpPr>
        <p:spPr>
          <a:xfrm>
            <a:off x="6821424" y="1408176"/>
            <a:ext cx="45720" cy="3401568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6967728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67728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18DA6"/>
                </a:solidFill>
              </a:rPr>
              <a:t>Prio 2  ·  6 KB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67728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4" name="Text 32"/>
          <p:cNvSpPr/>
          <p:nvPr/>
        </p:nvSpPr>
        <p:spPr>
          <a:xfrm>
            <a:off x="6967728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GitHub FOTA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67728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Serial Console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67728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OTA Rollback Guard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2608" y="4663440"/>
            <a:ext cx="8558784" cy="3474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8" name="Shape 36"/>
          <p:cNvSpPr/>
          <p:nvPr/>
        </p:nvSpPr>
        <p:spPr>
          <a:xfrm>
            <a:off x="292608" y="4663440"/>
            <a:ext cx="45720" cy="34747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9" name="Text 37"/>
          <p:cNvSpPr/>
          <p:nvPr/>
        </p:nvSpPr>
        <p:spPr>
          <a:xfrm>
            <a:off x="457200" y="4700016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  →  cmd_queue  →  motor_task          system_task  →  batt_queue  →  comms_task  →  WebSocket broadcast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00B4D8"/>
                </a:solidFill>
              </a:rPr>
              <a:t>TEIL 2 — MOTOR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Motor &amp; Gate Driver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DRV8323SRTAR · 6-Step Trapez · 20 kHz PWM · Soft-Start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2743200" cy="34747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45720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DRV8323SRTAR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23317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Gehäuse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975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VQFN-40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Spannung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3774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– 60 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797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Interface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77977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SPI · 5 Register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Schutz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1821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OCP · VDS · Temp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CSA Gain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35844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10× · LS-Shunt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9867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nFAULT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9867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aktiv 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1408176"/>
            <a:ext cx="3520440" cy="219456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3246120" y="1408176"/>
            <a:ext cx="45720" cy="219456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3401568" y="1490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25"/>
                </a:solidFill>
              </a:rPr>
              <a:t>6-Step Kommutierung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28416" y="190195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03904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INH_A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24528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INL_A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45152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INH_B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65776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INL_B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INH_C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07024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INL_C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27648" y="19019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18DA6"/>
                </a:solidFill>
              </a:rPr>
              <a:t>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28416" y="214884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03904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24528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45152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65776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0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07024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27648" y="214884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A+B−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28416" y="2382012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03904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24528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45152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65776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86400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07024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27648" y="238201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A+C−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28416" y="261518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03904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224528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45152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065776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6400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07024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27648" y="261518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B+C−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28416" y="2848356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03904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224528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645152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65776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486400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907024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27648" y="2848356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B+A−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328416" y="3081528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803904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224528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645152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065776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86400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907024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27648" y="308152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C+A−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328416" y="331470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18DA6"/>
                </a:solidFill>
              </a:rPr>
              <a:t>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803904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224528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645152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065776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86400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907024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327648" y="331470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C+B−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912864" y="1408176"/>
            <a:ext cx="1883664" cy="1591056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1" name="Shape 79"/>
          <p:cNvSpPr/>
          <p:nvPr/>
        </p:nvSpPr>
        <p:spPr>
          <a:xfrm>
            <a:off x="6912864" y="1408176"/>
            <a:ext cx="45720" cy="159105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2" name="Text 80"/>
          <p:cNvSpPr/>
          <p:nvPr/>
        </p:nvSpPr>
        <p:spPr>
          <a:xfrm>
            <a:off x="7059168" y="149047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</a:rPr>
              <a:t>Soft-Start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7059168" y="182880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Duty-Rampe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059168" y="217627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50 ms → 5 ms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059168" y="2523744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Reset bei Richtung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912864" y="3127248"/>
            <a:ext cx="1883664" cy="175564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7" name="Shape 85"/>
          <p:cNvSpPr/>
          <p:nvPr/>
        </p:nvSpPr>
        <p:spPr>
          <a:xfrm>
            <a:off x="6912864" y="3127248"/>
            <a:ext cx="45720" cy="17556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8" name="Text 86"/>
          <p:cNvSpPr/>
          <p:nvPr/>
        </p:nvSpPr>
        <p:spPr>
          <a:xfrm>
            <a:off x="7059168" y="3209544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Fault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7059168" y="354787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nFAULT → off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7059168" y="386791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500 ms Pause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7059168" y="41879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Register reset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7059168" y="450799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r>
              <a:rPr lang="en-US" sz="950" dirty="0">
                <a:solidFill>
                  <a:srgbClr val="C4E2F0"/>
                </a:solidFill>
              </a:rPr>
              <a:t>SAFE_MODE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246120" y="3621024"/>
            <a:ext cx="3520440" cy="12618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4" name="Text 92"/>
          <p:cNvSpPr/>
          <p:nvPr/>
        </p:nvSpPr>
        <p:spPr>
          <a:xfrm>
            <a:off x="3383280" y="3694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E2F0"/>
                </a:solidFill>
              </a:rPr>
              <a:t>Motorphasen-Zustände: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383280" y="3995928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6" name="Text 94"/>
          <p:cNvSpPr/>
          <p:nvPr/>
        </p:nvSpPr>
        <p:spPr>
          <a:xfrm>
            <a:off x="3383280" y="3995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3822192" y="4005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High-Side aktiv  (moduliert)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383280" y="4261104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9" name="Text 97"/>
          <p:cNvSpPr/>
          <p:nvPr/>
        </p:nvSpPr>
        <p:spPr>
          <a:xfrm>
            <a:off x="3383280" y="42611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3822192" y="4270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Low-Side aktiv  (LOW)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383280" y="4526280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2" name="Text 100"/>
          <p:cNvSpPr/>
          <p:nvPr/>
        </p:nvSpPr>
        <p:spPr>
          <a:xfrm>
            <a:off x="3383280" y="45262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3822192" y="45354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Float  (keine Ansteuerung)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00B4D8"/>
                </a:solidFill>
              </a:rPr>
              <a:t>TEIL 2 — FIRMWARE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Netzwerk &amp; OTA-Updates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WiFi · WebSocket · GitHub FOTA · PlatformIO OTA Upload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3977640" cy="34747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45720" cy="3474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</a:rPr>
              <a:t>Netzwerk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4747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6C7"/>
                </a:solidFill>
              </a:rPr>
              <a:t>WiFi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SSID/Passwort in NVS · Auto-Reconnect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</a:rPr>
              <a:t>WebSocket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esp_http_server Port 80 · Route /ws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25"/>
                </a:solidFill>
              </a:rPr>
              <a:t>UDP Discovery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Port 49352 · eigener Sub-Task Prio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8DA6"/>
                </a:solidFill>
              </a:rPr>
              <a:t>AP-Mode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950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Fallback wenn kein Netzwerk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61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3946"/>
                </a:solidFill>
              </a:rPr>
              <a:t>Failsafe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517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8DA6"/>
                </a:solidFill>
              </a:rPr>
              <a:t>500 ms kein Paket → Motor-Stopp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1408176"/>
            <a:ext cx="4315968" cy="1645920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4480560" y="1408176"/>
            <a:ext cx="45720" cy="1645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4645152" y="14904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GitHub FOTA  — automatisch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45152" y="18653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bg_task prüft GitHub Releases (alle 5 min)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45152" y="22219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esp_https_ota → neuen Partition-Slot flashen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5152" y="25786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Neustart · Auto-Rollback bei Fehler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3182112"/>
            <a:ext cx="4315968" cy="1700784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6" name="Shape 24"/>
          <p:cNvSpPr/>
          <p:nvPr/>
        </p:nvSpPr>
        <p:spPr>
          <a:xfrm>
            <a:off x="4480560" y="3182112"/>
            <a:ext cx="45720" cy="170078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4645152" y="32644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C7"/>
                </a:solidFill>
              </a:rPr>
              <a:t>OTA Upload  — manuell (PlatformIO)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45152" y="36393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Upload-Ziel: esp-rc-car.local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45152" y="3995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Passwort-gesichert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45152" y="43525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r>
              <a:rPr lang="en-US" sz="1050" dirty="0">
                <a:solidFill>
                  <a:srgbClr val="C4E2F0"/>
                </a:solidFill>
              </a:rPr>
              <a:t>Umgebung: espidf_ota (platformio.ini)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4700016"/>
            <a:ext cx="8449056" cy="3474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2" name="Shape 30"/>
          <p:cNvSpPr/>
          <p:nvPr/>
        </p:nvSpPr>
        <p:spPr>
          <a:xfrm>
            <a:off x="347472" y="4700016"/>
            <a:ext cx="45720" cy="34747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3" name="Text 31"/>
          <p:cNvSpPr/>
          <p:nvPr/>
        </p:nvSpPr>
        <p:spPr>
          <a:xfrm>
            <a:off x="502920" y="4736592"/>
            <a:ext cx="8138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18DA6"/>
                </a:solidFill>
              </a:rPr>
              <a:t>NVS: SSID/Passwort · OTA-Intervall · Batterie-Schwellen · Servo-Gain · Failsafe-Zeit · max_throttle_pct …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00B4D8"/>
                </a:solidFill>
              </a:rPr>
              <a:t>TEIL 2 — MECHANIK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Chassis &amp; Mechanik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8DA6"/>
                </a:solidFill>
              </a:rPr>
              <a:t>3D-Druck · Blender · PLA · S0009M Lenkservo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3291840" cy="201168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45720" cy="2011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6C7"/>
                </a:solidFill>
              </a:rPr>
              <a:t>3D-Druck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56232"/>
            <a:ext cx="28346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Hauptkörper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19568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Chassi V8.stl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Verbinder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2219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verbindung v1.stl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Software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24871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Blender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523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Material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27523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017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Iterationen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30175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 → V8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547872"/>
            <a:ext cx="3291840" cy="1335024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Shape 18"/>
          <p:cNvSpPr/>
          <p:nvPr/>
        </p:nvSpPr>
        <p:spPr>
          <a:xfrm>
            <a:off x="347472" y="3547872"/>
            <a:ext cx="45720" cy="13350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502920" y="36301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Lenkservo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995928"/>
            <a:ext cx="28346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502920" y="4096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Modell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4096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S0009M  9g Micro Servo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3525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Signal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74520" y="435254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50 Hz · 1000–2000 µs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608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8DA6"/>
                </a:solidFill>
              </a:rPr>
              <a:t>Filter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74520" y="46085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IIR · Gain einstellbar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94760" y="1408176"/>
            <a:ext cx="5001768" cy="2231136"/>
          </a:xfrm>
          <a:prstGeom prst="rect">
            <a:avLst/>
          </a:prstGeom>
          <a:solidFill>
            <a:srgbClr val="091625"/>
          </a:solidFill>
          <a:ln w="12700">
            <a:solidFill>
              <a:srgbClr val="1A3249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30" name="Text 28"/>
          <p:cNvSpPr/>
          <p:nvPr/>
        </p:nvSpPr>
        <p:spPr>
          <a:xfrm>
            <a:off x="3794760" y="1408176"/>
            <a:ext cx="500176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248"/>
                </a:solidFill>
              </a:rPr>
              <a:t>[ Chassi V8 Render 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794760" y="3749040"/>
            <a:ext cx="5001768" cy="914400"/>
          </a:xfrm>
          <a:prstGeom prst="rect">
            <a:avLst/>
          </a:prstGeom>
          <a:solidFill>
            <a:srgbClr val="091625"/>
          </a:solidFill>
          <a:ln w="12700">
            <a:solidFill>
              <a:srgbClr val="1A3249"/>
            </a:solidFill>
            <a:prstDash val="dash"/>
          </a:ln>
        </p:spPr>
        <p:txBody>
          <a:bodyPr/>
          <a:lstStyle/>
          <a:p>
            <a:endParaRPr lang="de-AT"/>
          </a:p>
        </p:txBody>
      </p:sp>
      <p:sp>
        <p:nvSpPr>
          <p:cNvPr id="32" name="Text 30"/>
          <p:cNvSpPr/>
          <p:nvPr/>
        </p:nvSpPr>
        <p:spPr>
          <a:xfrm>
            <a:off x="3794760" y="3749040"/>
            <a:ext cx="5001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248"/>
                </a:solidFill>
              </a:rPr>
              <a:t>[ verbindung v1 Render ]</a:t>
            </a:r>
            <a:endParaRPr lang="en-US" sz="1200" dirty="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86C041F4-EA8F-4843-7F41-85DC02D8A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264" y="3745927"/>
            <a:ext cx="2253056" cy="9144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809F677C-FBC6-F8FA-FB0B-335470048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59" y="1405063"/>
            <a:ext cx="5001769" cy="22251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5072"/>
            <a:ext cx="9144000" cy="1138428"/>
          </a:xfrm>
          <a:prstGeom prst="rect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75488" y="320040"/>
            <a:ext cx="8193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ESP-RC-Car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75488" y="1261872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18DA6"/>
                </a:solidFill>
              </a:rPr>
              <a:t>Schulprojekt 4BHELS  —  Zusammenfassung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0" y="1664208"/>
            <a:ext cx="512064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475488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7" name="Shape 5"/>
          <p:cNvSpPr/>
          <p:nvPr/>
        </p:nvSpPr>
        <p:spPr>
          <a:xfrm>
            <a:off x="475488" y="1901952"/>
            <a:ext cx="45720" cy="187452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612648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25"/>
                </a:solidFill>
              </a:rPr>
              <a:t>Hardware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612648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ESP32-S3 · DRV8323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2S LiPo · PCB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51176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2" name="Shape 10"/>
          <p:cNvSpPr/>
          <p:nvPr/>
        </p:nvSpPr>
        <p:spPr>
          <a:xfrm>
            <a:off x="2551176" y="1901952"/>
            <a:ext cx="45720" cy="1874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2688336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6C7"/>
                </a:solidFill>
              </a:rPr>
              <a:t>App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88336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2688336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Flutter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Android/iOS/Win/Web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7" name="Shape 15"/>
          <p:cNvSpPr/>
          <p:nvPr/>
        </p:nvSpPr>
        <p:spPr>
          <a:xfrm>
            <a:off x="4626864" y="1901952"/>
            <a:ext cx="45720" cy="1874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8" name="Text 16"/>
          <p:cNvSpPr/>
          <p:nvPr/>
        </p:nvSpPr>
        <p:spPr>
          <a:xfrm>
            <a:off x="4764024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Firmware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64024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4764024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FreeRTOS · ESP-IDF 6.0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6-Step BLDC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blurRad="1143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6702552" y="1901952"/>
            <a:ext cx="45720" cy="1874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6839712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</a:rPr>
              <a:t>Mechanik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39712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6839712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Chassi V8 · Blender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E2F0"/>
                </a:solidFill>
              </a:rPr>
              <a:t>Servo S0009M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4059936"/>
            <a:ext cx="8193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— Live Vorführung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5488" y="4553712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18DA6"/>
                </a:solidFill>
              </a:rPr>
              <a:t>github.com/marioisnotavailable/ESP-RC-Car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927</Words>
  <Application>Microsoft Office PowerPoint</Application>
  <PresentationFormat>Bildschirmpräsentation (16:9)</PresentationFormat>
  <Paragraphs>271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ESP-RC-Car</dc:title>
  <dc:subject>PptxGenJS Presentation</dc:subject>
  <dc:creator>PptxGenJS</dc:creator>
  <cp:lastModifiedBy>Leon D</cp:lastModifiedBy>
  <cp:revision>2</cp:revision>
  <dcterms:created xsi:type="dcterms:W3CDTF">2026-06-04T20:30:54Z</dcterms:created>
  <dcterms:modified xsi:type="dcterms:W3CDTF">2026-06-04T20:36:42Z</dcterms:modified>
</cp:coreProperties>
</file>