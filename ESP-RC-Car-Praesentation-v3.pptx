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0"/>
            <a:ext cx="1737360" cy="51435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0"/>
            <a:ext cx="1737360" cy="5143500"/>
          </a:xfrm>
          <a:prstGeom prst="rect">
            <a:avLst/>
          </a:prstGeom>
          <a:solidFill>
            <a:srgbClr val="0096C7">
              <a:alpha val="18000"/>
            </a:srgbClr>
          </a:solidFill>
          <a:ln w="12700">
            <a:solidFill>
              <a:srgbClr val="0096C7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</a:rPr>
              <a:t>ESP-RC-CAR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B4D8"/>
                </a:solidFill>
              </a:rPr>
              <a:t>Schulprojekt 4BHELS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Selbst entwickeltes Drift-Car — ESP32-S3 · BLDC Motor · Flutter 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3657600" cy="320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25"/>
                </a:solidFill>
              </a:rPr>
              <a:t>Teil 1 —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Hardware &amp; 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Teil 2 —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ESP Firmware &amp; Mechanik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je ~7 Minuten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F4A225"/>
                </a:solidFill>
              </a:rPr>
              <a:t>TEIL 1 — ÜBERSICHT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Systemarchitektur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So funktioniert das ESP-RC-Car im Überblick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51760" cy="2331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50292" cy="2331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81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Flutter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Android / iOS / Windows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Touch-Joystick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UDP Auto-Discovery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1455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WebSocket Client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5295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GitHub Self-Update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19202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A225"/>
                </a:solidFill>
              </a:rPr>
              <a:t>WebSocket :80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2194560"/>
            <a:ext cx="3017520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DB5"/>
                </a:solidFill>
              </a:rPr>
              <a:t>UDP :49352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508760"/>
            <a:ext cx="2651760" cy="2331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50292" cy="2331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5819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ESP32-S3 Firmware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19933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FreeRTOS — 4 Tasks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23774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WebSocket Server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7614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BLDC Motorsteuerung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31455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WiFi + UDP Discovery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35295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GitHub FOTA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977640"/>
            <a:ext cx="1965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40416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DRV8323S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Gate Driver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14600" y="3977640"/>
            <a:ext cx="1965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606040" y="40416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25"/>
                </a:solidFill>
              </a:rPr>
              <a:t>Mini1410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A225"/>
                </a:solidFill>
              </a:rPr>
              <a:t>BLDC Motor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977640"/>
            <a:ext cx="1965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40416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2S LiPo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Batterie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03720" y="3977640"/>
            <a:ext cx="1965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95160" y="40416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PCB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Custom Board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44568" y="3840480"/>
            <a:ext cx="54864" cy="137160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F4A225"/>
                </a:solidFill>
              </a:rPr>
              <a:t>TEIL 1 — HARDWARE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Hardware-Komponenten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Alle Kernbauteile des ESP-RC-Cars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1148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50292" cy="16916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96C7"/>
                </a:solidFill>
              </a:rPr>
              <a:t>ESP32-S3-WROOM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19568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Dual-Core LX7 · 240 MHz · 16 MB Flash · OPI-PSRAM · Wi-Fi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347472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4086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Hauptmikrocontroller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FreeRTOS + ESP-IDF 6.0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USB-Serial / OTA Upload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5029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544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B4D8"/>
                </a:solidFill>
              </a:rPr>
              <a:t>DRV8323SRTAR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937760" y="19568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Texas Instruments · VQFN-40 · Gate Driver 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240280"/>
            <a:ext cx="347472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34086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Steuert 3-Phasen-Halbbrücke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SPI-Konfiguration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nFAULT-Schutz + OCP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91840"/>
            <a:ext cx="41148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91840"/>
            <a:ext cx="50292" cy="169164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832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225"/>
                </a:solidFill>
              </a:rPr>
              <a:t>Mini1410 2500 kV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BLDC Brushless Motor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069080"/>
            <a:ext cx="347472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6966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6-Step Trapez-Kommutierung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20 kHz PWM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Sensorlos / Open-Loop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291840"/>
            <a:ext cx="41148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291840"/>
            <a:ext cx="50292" cy="1691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3832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3946"/>
                </a:solidFill>
              </a:rPr>
              <a:t>2S LiPo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4937760" y="3785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Hauptenergiespeicher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4069080"/>
            <a:ext cx="347472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416966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7.4 V nominal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ADC Spannungsüberwachung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BMS + Ladeelektronik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F4A225"/>
                </a:solidFill>
              </a:rPr>
              <a:t>TEIL 1 — HARDWARE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PCB — Power-Subsystem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Altium Designer · Custom 2-Lagen Board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11480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50292" cy="347472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25"/>
                </a:solidFill>
              </a:rPr>
              <a:t>Stromversorgung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554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5DE5"/>
                </a:solidFill>
              </a:rPr>
              <a:t>USB-C PD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B5DE5"/>
                </a:solidFill>
              </a:rPr>
              <a:t>Eingang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011680"/>
            <a:ext cx="1554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2S LiPo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Batterie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89304" y="2514600"/>
            <a:ext cx="45720" cy="365760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26664" y="2514600"/>
            <a:ext cx="45720" cy="365760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80360"/>
            <a:ext cx="1554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8803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Charging 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CC/CV Laden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2880360"/>
            <a:ext cx="1554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0" y="28803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BMS 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Balancing + Schutz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83080" y="3474720"/>
            <a:ext cx="1280160" cy="45720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39696" y="3520440"/>
            <a:ext cx="45720" cy="320040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3840480"/>
            <a:ext cx="21031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Buck Converter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USB-C / Batt → 3.3 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4160520"/>
            <a:ext cx="109728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→ ESP32-S3 (3.3 V)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1463040"/>
            <a:ext cx="420624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463040"/>
            <a:ext cx="50292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554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ICs auf dem Board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09160" y="2029968"/>
            <a:ext cx="39776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28032" y="20574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ESP32-S3-WROOM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2057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Modul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28032" y="22677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DB5"/>
                </a:solidFill>
              </a:rPr>
              <a:t>MCU, WiFi, BLE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514600"/>
            <a:ext cx="39776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28032" y="25420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DRV8323SRTAR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2542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VQFN-40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28032" y="275234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DB5"/>
                </a:solidFill>
              </a:rPr>
              <a:t>3Ph Gate Driver, SPI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999232"/>
            <a:ext cx="39776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28032" y="30266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Buck Converter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30266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SOT-23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28032" y="323697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DB5"/>
                </a:solidFill>
              </a:rPr>
              <a:t>Eingang → 3.3 V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483864"/>
            <a:ext cx="39776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28032" y="351129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BMS IC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92240" y="35112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SSOP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28032" y="37216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DB5"/>
                </a:solidFill>
              </a:rPr>
              <a:t>2S Überwachung, Balancing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3968496"/>
            <a:ext cx="39776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28032" y="39959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25"/>
                </a:solidFill>
              </a:rPr>
              <a:t>Charging IC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92240" y="39959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DFN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28032" y="420624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DB5"/>
                </a:solidFill>
              </a:rPr>
              <a:t>LiPo CC/CV Laden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4453128"/>
            <a:ext cx="39776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7A9DB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828032" y="44805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DB5"/>
                </a:solidFill>
              </a:rPr>
              <a:t>N-FETs (6×)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92240" y="44805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DPAK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28032" y="46908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DB5"/>
                </a:solidFill>
              </a:rPr>
              <a:t>3Ph Halbbrücken-Schalter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F4A225"/>
                </a:solidFill>
              </a:rPr>
              <a:t>TEIL 1 — HARDWARE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DRV8323SRTAR — Gate Driver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Texas Instruments · 3-Phasen Halbbrücke für BLDC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393192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50292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Technische Daten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Gehäuse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20299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VQFN-40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140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Eingangsspannung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4140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– 60 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980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Gate-Strom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7980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bis 1 A Peak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1821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Interface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182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SPI Mode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5661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PWM-Modus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5661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6× Individuell (INH/INL)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9502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Schutz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3950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OCP · VDS-Monitor · Thermisch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3342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Strom-Shunt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43342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3× CSA · 10× Gain · 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7183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Fault-Signal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47183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nFAULT (aktiv LOW)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1463040"/>
            <a:ext cx="438912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1463040"/>
            <a:ext cx="50292" cy="347472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5544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25"/>
                </a:solidFill>
              </a:rPr>
              <a:t>5 Konfigurations-Register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0" y="2029968"/>
            <a:ext cx="411480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81728" y="206654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85232" y="20665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DRV_CTRL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81728" y="2304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6× PWM Mode, Gate-Fault aus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606040"/>
            <a:ext cx="411480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81728" y="264261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85232" y="2642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GATE_DRV_HS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81728" y="28803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Voller Gate-Strom High-Side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182112"/>
            <a:ext cx="411480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81728" y="32186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85232" y="32186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GATE_DRV_LS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81728" y="34564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Cycle-by-Cycle OCP Low-Side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3758184"/>
            <a:ext cx="411480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81728" y="37947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85232" y="37947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OCP_CTRL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81728" y="40325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VDS-Schwelle 0.06 V, Latch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4334256"/>
            <a:ext cx="411480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81728" y="437083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0x06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285232" y="43708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CSA_CTRL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81728" y="460857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10× Gain, alle 3 Phasen aktiv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34840" y="4663440"/>
            <a:ext cx="43891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72000" y="471830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 Frame: [R/W | Addr 3bit | Data 11bit] — 16 bit, Mode 1, CS Hardware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F4A225"/>
                </a:solidFill>
              </a:rPr>
              <a:t>TEIL 1 — APP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Flutter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Cross-Platform Controller-App in Dart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463040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Android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1463040"/>
            <a:ext cx="1463040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1463040"/>
            <a:ext cx="1463040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Windows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0" y="1463040"/>
            <a:ext cx="1463040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Web / macOS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874520"/>
            <a:ext cx="4114800" cy="3063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74520"/>
            <a:ext cx="50292" cy="30632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65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Architektur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423160"/>
            <a:ext cx="3749040" cy="69494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459736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ConnectionService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779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WebSocket + UDP-Discovery, Batterie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264408"/>
            <a:ext cx="3749040" cy="694944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30098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ControllerService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621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Joystick / Gamepad → Befehle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105656"/>
            <a:ext cx="3749040" cy="694944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14223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25"/>
                </a:solidFill>
              </a:rPr>
              <a:t>UpdateService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462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GitHub Self-Update (Android)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1874520"/>
            <a:ext cx="4206240" cy="30632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1874520"/>
            <a:ext cx="50292" cy="30632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965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DE5"/>
                </a:solidFill>
              </a:rPr>
              <a:t>UI &amp; Features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24231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◉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Dual Touch-Joystick 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— Landscape-Modus, Edge-sticky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28712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◉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Dark Theme 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— Schwarzer Hintergrund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33192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◉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Developer Panel 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— URL, Debug-Infos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376732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◉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Batterie-Anzeige 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— Live via WebSocket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421538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5"/>
                </a:solidFill>
              </a:rPr>
              <a:t>◉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Xbox/PS Gamepad 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— Native C++ (Windows)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46634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◉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Automatischer Reconnect 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— ConnectionService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F4A225"/>
                </a:solidFill>
              </a:rPr>
              <a:t>TEIL 1 — APP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Kommunikationsprotokoll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App ↔ ESP32 — UDP Discovery + WebSocket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8503920" cy="1207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50292" cy="1207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4533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1 — UDP Auto-Discovery  (Port 49352)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broadcast → "ESP_RC_DISCOVER"</a:t>
            </a:r>
            <a:pPr indent="0" marL="0">
              <a:buNone/>
            </a:pPr>
            <a:r>
              <a:rPr lang="en-US" sz="120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 antwortet: "ESP_RC_HERE [IP]"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85039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834640"/>
            <a:ext cx="50292" cy="21031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1693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2 — WebSocket  ws://[IP]:80/ws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379476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4015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25"/>
                </a:solidFill>
              </a:rPr>
              <a:t>App → ESP32  (50 Hz)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721608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"throttle": -1000 … +1000,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"steer":    -1000 … +1000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337560"/>
            <a:ext cx="379476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34015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ESP32 → App  (jede Sekunde)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721608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"batt": 0 … 100    // Prozent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828032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⚡ Failsafe: 500 ms ohne Kommando → ESP32 sendet Nullbefehl (Motor-Stopp)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96C7">
              <a:alpha val="35000"/>
            </a:srgbClr>
          </a:solidFill>
          <a:ln w="12700">
            <a:solidFill>
              <a:srgbClr val="0096C7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77724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900" kern="0" dirty="0">
                <a:solidFill>
                  <a:srgbClr val="00B4D8"/>
                </a:solidFill>
              </a:rPr>
              <a:t>TEIL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1298448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ESP Firmware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&amp; Mechanik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103120" y="3108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FreeRTOS · 6-Step BLDC · WiFi/WebSocket · 3D-Druck Chassis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3547872"/>
            <a:ext cx="32004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3749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96C7"/>
                </a:solidFill>
              </a:rPr>
              <a:t>ESP-IDF 6.0 · PlatformIO · FreeRTOS 1000 Hz Tick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00B4D8"/>
                </a:solidFill>
              </a:rPr>
              <a:t>TEIL 2 — FIRMWARE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FreeRTOS Task-Architektur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4 Tasks — klar getrennte Verantwortlichkeiten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201168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81328"/>
            <a:ext cx="50292" cy="3429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554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920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Prio 10  ·  Stack 4 KB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2194560"/>
            <a:ext cx="169164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286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6-Step BLDC Kommutierung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8163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DRV8323S SPI Init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3467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Fault-Handling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8770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Safe-Mode Suspend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87168" y="1481328"/>
            <a:ext cx="201168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1481328"/>
            <a:ext cx="50292" cy="34290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2616" y="1554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42616" y="1920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Prio 7  ·  Stack 8 KB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42616" y="2194560"/>
            <a:ext cx="169164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42616" y="2286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WiFi esp_wifi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42616" y="28163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WebSocket Server Port 80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42616" y="33467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UDP Discovery Task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42616" y="38770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cmd_queue befüllen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0016" y="1481328"/>
            <a:ext cx="201168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0016" y="1481328"/>
            <a:ext cx="50292" cy="34290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5464" y="1554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55464" y="1920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Prio 5  ·  Stack 6 KB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55464" y="2194560"/>
            <a:ext cx="169164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55464" y="2286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ADC Batterie-Monitor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5464" y="28163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NVS Einstellungen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5464" y="33467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Servo PWM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55464" y="38770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Crash-Recovery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12864" y="1481328"/>
            <a:ext cx="201168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7A9DB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12864" y="1481328"/>
            <a:ext cx="50292" cy="3429000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68312" y="1554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68312" y="1920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Prio 2  ·  Stack 6 KB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68312" y="2194560"/>
            <a:ext cx="169164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68312" y="2286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GitHub FOTA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68312" y="28163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Serial Console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68312" y="33467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OTA Rollback Guard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47457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 → xQueueOverwrite(cmd_queue) → motor_task     ·     system_task → xQueueOverwrite(batt_queue) → comms_task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00B4D8"/>
                </a:solidFill>
              </a:rPr>
              <a:t>TEIL 2 — MOTOR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6-Step Trapez-Kommutierung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Mini1410 2500 kV BLDC · 20 kHz LEDC · Soft-Start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81328"/>
            <a:ext cx="507492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81328"/>
            <a:ext cx="50292" cy="342900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25"/>
                </a:solidFill>
              </a:rPr>
              <a:t>Kommutierungstabelle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7552" y="1975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DB5"/>
                </a:solidFill>
              </a:rPr>
              <a:t>INH_A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17904" y="1975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DB5"/>
                </a:solidFill>
              </a:rPr>
              <a:t>INL_A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48256" y="1975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DB5"/>
                </a:solidFill>
              </a:rPr>
              <a:t>INH_B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78608" y="1975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DB5"/>
                </a:solidFill>
              </a:rPr>
              <a:t>INL_B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08960" y="1975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DB5"/>
                </a:solidFill>
              </a:rPr>
              <a:t>INH_C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39312" y="1975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DB5"/>
                </a:solidFill>
              </a:rPr>
              <a:t>INL_C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69664" y="19751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DB5"/>
                </a:solidFill>
              </a:rPr>
              <a:t>Phase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87552" y="22860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17904" y="22860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48256" y="22860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78608" y="22860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08960" y="22860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39312" y="22860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69664" y="2286000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 B−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5968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87552" y="25968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17904" y="25968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48256" y="25968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78608" y="25968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08960" y="25968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39312" y="25968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69664" y="2596896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 C−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290779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7552" y="290779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17904" y="290779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48256" y="290779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78608" y="290779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108960" y="290779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39312" y="290779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69664" y="2907792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 C−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21868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87552" y="321868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517904" y="321868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048256" y="321868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78608" y="321868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08960" y="321868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39312" y="321868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169664" y="3218688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 A−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352958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87552" y="352958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517904" y="352958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048256" y="352958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78608" y="352958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108960" y="352958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39312" y="352958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69664" y="3529584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 A−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38404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87552" y="38404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517904" y="38404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048256" y="38404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578608" y="38404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108960" y="38404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639312" y="38404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169664" y="3840480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 B−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577840" y="1481328"/>
            <a:ext cx="3291840" cy="1664208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577840" y="1481328"/>
            <a:ext cx="50292" cy="16642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60720" y="15727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Soft-Start Ramp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760720" y="193852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Duty-Rampe: +5 pro Schritt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Period: 50 ms → 5 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Richtungswechsel → Reset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577840" y="3273552"/>
            <a:ext cx="3291840" cy="1636776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577840" y="3273552"/>
            <a:ext cx="50292" cy="16367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60720" y="33558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Fault Handling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760720" y="372160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nFAULT → all_phases_off()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500 ms Cooldown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Register neu schreiben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SAFE_MODE → vTaskSuspend()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20040" y="480060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LEDC Timer 0 · 10-bit (0 … 1023) · 6 Kanäle CH0–CH5 · Alle 6 Pins per ESP-IDF LEDC-API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00B4D8"/>
                </a:solidFill>
              </a:rPr>
              <a:t>TEIL 2 — FIRMWARE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Netzwerk &amp; Kommunikation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WiFi · WebSocket · UDP Discovery · Failsafe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481328"/>
            <a:ext cx="274320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481328"/>
            <a:ext cx="50292" cy="34290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WiFi Verbindung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esp_wifi + esp_netif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SSID/Passwort in NVS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WIFI_CONNECTED_BIT Event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67588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30 s Timeout → läuft weiter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Automatischer Reconnect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9544" y="1481328"/>
            <a:ext cx="274320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9544" y="1481328"/>
            <a:ext cx="50292" cy="3429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572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WebSocket Server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74136" y="202996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esp_http_server Port 80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74136" y="257860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Route: /ws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74136" y="312724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Empfang: throttle / steer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74136" y="367588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Senden: batt % (1 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74136" y="422452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Failsafe: 500 ms Timeout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1481328"/>
            <a:ext cx="274320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481328"/>
            <a:ext cx="50292" cy="342900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1572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25"/>
                </a:solidFill>
              </a:rPr>
              <a:t>UDP Discovery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91072" y="202996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Port 49352 (lwip sockets)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91072" y="257860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"ESP_RC_DISCOVER" → Broadcast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91072" y="312724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"ESP_RC_HERE [IP]" → Antwort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91072" y="367588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Sub-Task Prio 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91072" y="422452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Keine manuelle IP nötig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2608" y="4709160"/>
            <a:ext cx="8558784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7457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NVS: ssid0 / pass0  ·  AP-Fallback: ws://192.168.4.1:80  ·  DeviceSettings: failsafe_ms, ota_interval, batt_warn_v …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00B4D8"/>
                </a:solidFill>
              </a:rPr>
              <a:t>TEIL 2 — FIRMWARE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Firmware FOTA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Automatisches Update über GitHub Releases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81328"/>
            <a:ext cx="498348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81328"/>
            <a:ext cx="50292" cy="34290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Automatisches GitHub-Update (bg_task)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2139696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2996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bg_task wartet auf WIFI_CONNECTED_BIT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2615184"/>
            <a:ext cx="256032" cy="2560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054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Alle 5 Minuten: do_fota() aufrufen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3090672"/>
            <a:ext cx="256032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809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esp_https_ota lädt .bin von GitHub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3566160"/>
            <a:ext cx="256032" cy="256032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5643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Neuen Partition-Slot beschreiben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4041648"/>
            <a:ext cx="256032" cy="2560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31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rc_recovery_mark_stable() + esp_restart()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4517136"/>
            <a:ext cx="256032" cy="256032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074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Fehler → loggen + weiter (kein Absturz)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1481328"/>
            <a:ext cx="3337560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481328"/>
            <a:ext cx="50292" cy="15727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5727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OTA Upload (PlatformIO)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192024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Manuell via PlatformIO
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Upload-Ziel: "esp-rc-car.local"
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Passwort-gesichert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0" y="3182112"/>
            <a:ext cx="3337560" cy="1728216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3182112"/>
            <a:ext cx="50292" cy="172821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32735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25"/>
                </a:solidFill>
              </a:rPr>
              <a:t>OTA Rollback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0" y="3630168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Neue Firmware bootet
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esp_ota_mark_app_valid()
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Kein Aufruf → Auto-Rollback
</a:t>
            </a:r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Safe Mode heilbar per FOTA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00B4D8"/>
                </a:solidFill>
              </a:rPr>
              <a:t>TEIL 2 — MECHANIK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Chassis &amp; Mechanik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3D-Druck + Servolenkung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81328"/>
            <a:ext cx="320040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81328"/>
            <a:ext cx="50292" cy="34290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3D-Druck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Modell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0299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Chassi V8.stl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328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Verbinder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5328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verbindung v1.stl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0358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Software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30358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Blender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5387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Material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5387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Iterationen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40416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 → V8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709160"/>
            <a:ext cx="32004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7365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Servo: 50 Hz LEDC · 1000–2000 µs · IIR-Filter · steer-Invert &amp; -Gain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03320" y="1481328"/>
            <a:ext cx="5120640" cy="2212848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1600200"/>
            <a:ext cx="4846320" cy="1975104"/>
          </a:xfrm>
          <a:prstGeom prst="rect">
            <a:avLst/>
          </a:prstGeom>
          <a:solidFill>
            <a:srgbClr val="0A1828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840480" y="1600200"/>
            <a:ext cx="484632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44"/>
                </a:solidFill>
              </a:rPr>
              <a:t>[ FOTO / RENDER ]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2E44"/>
                </a:solidFill>
              </a:rPr>
              <a:t>Chassi V8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40480" y="35387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DB5"/>
                </a:solidFill>
              </a:rPr>
              <a:t>Chassi V8.stl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03320" y="3794760"/>
            <a:ext cx="5120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0" y="3904488"/>
            <a:ext cx="4846320" cy="896112"/>
          </a:xfrm>
          <a:prstGeom prst="rect">
            <a:avLst/>
          </a:prstGeom>
          <a:solidFill>
            <a:srgbClr val="0A1828"/>
          </a:solidFill>
          <a:ln w="19050">
            <a:solidFill>
              <a:srgbClr val="00B4D8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840480" y="3904488"/>
            <a:ext cx="4846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4"/>
                </a:solidFill>
              </a:rPr>
              <a:t>[ FOTO / RENDER ]  verbindung v1.stl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9144000" cy="116586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500" kern="0" dirty="0">
                <a:solidFill>
                  <a:srgbClr val="00B4D8"/>
                </a:solidFill>
              </a:rPr>
              <a:t>Zusammenfassung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ESP-RC-Car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828800" cy="18745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50292" cy="187452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01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25"/>
                </a:solidFill>
              </a:rPr>
              <a:t>Hardware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50876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77440"/>
            <a:ext cx="1554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ESP32-S3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DRV8323S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2S LiPo · PCB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828800"/>
            <a:ext cx="1828800" cy="1874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828800"/>
            <a:ext cx="50292" cy="1874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901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</a:rPr>
              <a:t>App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697480" y="2286000"/>
            <a:ext cx="150876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2377440"/>
            <a:ext cx="1554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Flutter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Android/iOS/Win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WebSocket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828800"/>
            <a:ext cx="1828800" cy="1874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828800"/>
            <a:ext cx="50292" cy="1874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901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Firmware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150876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377440"/>
            <a:ext cx="1554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FreeRTOS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ESP-IDF 6.0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6-Step BLDC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1828800"/>
            <a:ext cx="1828800" cy="187452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1828800"/>
            <a:ext cx="50292" cy="1874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901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</a:rPr>
              <a:t>Mechanik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12280" y="2286000"/>
            <a:ext cx="150876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377440"/>
            <a:ext cx="1554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Chassi V8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3D-Druck PLA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Servo PWM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0416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— Live Vorführung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github.com/marioisnotavailable/ESP-RC-Car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ESP-RC-Car</dc:title>
  <dc:subject>PptxGenJS Presentation</dc:subject>
  <dc:creator>PptxGenJS</dc:creator>
  <cp:lastModifiedBy>PptxGenJS</cp:lastModifiedBy>
  <cp:revision>1</cp:revision>
  <dcterms:created xsi:type="dcterms:W3CDTF">2026-06-04T16:40:56Z</dcterms:created>
  <dcterms:modified xsi:type="dcterms:W3CDTF">2026-06-04T16:40:56Z</dcterms:modified>
</cp:coreProperties>
</file>